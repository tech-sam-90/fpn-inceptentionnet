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Lst>
  <p:sldSz cx="18288000" cy="10287000"/>
  <p:notesSz cx="6858000" cy="9144000"/>
  <p:embeddedFontLst>
    <p:embeddedFont>
      <p:font typeface="Calibri" panose="020F0502020204030204" pitchFamily="34" charset="0"/>
      <p:regular r:id="rId15"/>
      <p:bold r:id="rId16"/>
      <p:italic r:id="rId17"/>
      <p:boldItalic r:id="rId18"/>
    </p:embeddedFont>
    <p:embeddedFont>
      <p:font typeface="Helvetica" panose="020B0604020202020204" pitchFamily="34" charset="0"/>
      <p:regular r:id="rId19"/>
      <p:bold r:id="rId20"/>
      <p:italic r:id="rId21"/>
      <p:boldItalic r:id="rId22"/>
    </p:embeddedFont>
    <p:embeddedFont>
      <p:font typeface="League Spartan" panose="020B0604020202020204" charset="0"/>
      <p:regular r:id="rId23"/>
    </p:embeddedFont>
    <p:embeddedFont>
      <p:font typeface="Montserrat" panose="00000500000000000000" pitchFamily="2" charset="0"/>
      <p:regular r:id="rId24"/>
      <p:bold r:id="rId25"/>
      <p:italic r:id="rId26"/>
      <p:boldItalic r:id="rId27"/>
    </p:embeddedFont>
    <p:embeddedFont>
      <p:font typeface="Open Sans Light" panose="020B0306030504020204" pitchFamily="34" charset="0"/>
      <p:regular r:id="rId28"/>
      <p: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6062" autoAdjust="0"/>
  </p:normalViewPr>
  <p:slideViewPr>
    <p:cSldViewPr>
      <p:cViewPr varScale="1">
        <p:scale>
          <a:sx n="65" d="100"/>
          <a:sy n="65" d="100"/>
        </p:scale>
        <p:origin x="82" y="37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InceptentionNet</c:v>
                </c:pt>
              </c:strCache>
            </c:strRef>
          </c:tx>
          <c:spPr>
            <a:solidFill>
              <a:srgbClr val="AAAAAA"/>
            </a:solidFill>
            <a:effectLst/>
          </c:spPr>
          <c:invertIfNegative val="0"/>
          <c:dLbls>
            <c:numFmt formatCode="0.000" sourceLinked="0"/>
            <c:spPr>
              <a:noFill/>
              <a:ln>
                <a:noFill/>
              </a:ln>
              <a:effectLst/>
            </c:spPr>
            <c:txPr>
              <a:bodyPr/>
              <a:lstStyle/>
              <a:p>
                <a:pPr>
                  <a:defRPr sz="900" b="0" i="0" u="none" strike="noStrike">
                    <a:solidFill>
                      <a:srgbClr val="1A1A2E"/>
                    </a:solidFill>
                    <a:latin typeface="Arial"/>
                  </a:defRPr>
                </a:pPr>
                <a:endParaRPr lang="en-N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Accuracy</c:v>
                </c:pt>
                <c:pt idx="1">
                  <c:v>Precision</c:v>
                </c:pt>
                <c:pt idx="2">
                  <c:v>Recall</c:v>
                </c:pt>
                <c:pt idx="3">
                  <c:v>F1</c:v>
                </c:pt>
                <c:pt idx="4">
                  <c:v>AUC</c:v>
                </c:pt>
              </c:strCache>
            </c:strRef>
          </c:cat>
          <c:val>
            <c:numRef>
              <c:f>Sheet1!$B$2:$B$6</c:f>
              <c:numCache>
                <c:formatCode>General</c:formatCode>
                <c:ptCount val="5"/>
                <c:pt idx="0">
                  <c:v>0.98070000000000002</c:v>
                </c:pt>
                <c:pt idx="1">
                  <c:v>0.9143</c:v>
                </c:pt>
                <c:pt idx="2">
                  <c:v>0.96030000000000004</c:v>
                </c:pt>
                <c:pt idx="3">
                  <c:v>0.93540000000000001</c:v>
                </c:pt>
                <c:pt idx="4">
                  <c:v>0.99399999999999999</c:v>
                </c:pt>
              </c:numCache>
            </c:numRef>
          </c:val>
          <c:extLst>
            <c:ext xmlns:c16="http://schemas.microsoft.com/office/drawing/2014/chart" uri="{C3380CC4-5D6E-409C-BE32-E72D297353CC}">
              <c16:uniqueId val="{00000000-A0C4-4224-8F09-1BA69B50CA2A}"/>
            </c:ext>
          </c:extLst>
        </c:ser>
        <c:ser>
          <c:idx val="1"/>
          <c:order val="1"/>
          <c:tx>
            <c:strRef>
              <c:f>Sheet1!$C$1</c:f>
              <c:strCache>
                <c:ptCount val="1"/>
                <c:pt idx="0">
                  <c:v>FPN-Mamba (ours)</c:v>
                </c:pt>
              </c:strCache>
            </c:strRef>
          </c:tx>
          <c:spPr>
            <a:solidFill>
              <a:srgbClr val="C41230"/>
            </a:solidFill>
            <a:effectLst/>
          </c:spPr>
          <c:invertIfNegative val="0"/>
          <c:dLbls>
            <c:numFmt formatCode="0.000" sourceLinked="0"/>
            <c:spPr>
              <a:noFill/>
              <a:ln>
                <a:noFill/>
              </a:ln>
              <a:effectLst/>
            </c:spPr>
            <c:txPr>
              <a:bodyPr/>
              <a:lstStyle/>
              <a:p>
                <a:pPr>
                  <a:defRPr sz="900" b="0" i="0" u="none" strike="noStrike">
                    <a:solidFill>
                      <a:srgbClr val="1A1A2E"/>
                    </a:solidFill>
                    <a:latin typeface="Arial"/>
                  </a:defRPr>
                </a:pPr>
                <a:endParaRPr lang="en-N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Accuracy</c:v>
                </c:pt>
                <c:pt idx="1">
                  <c:v>Precision</c:v>
                </c:pt>
                <c:pt idx="2">
                  <c:v>Recall</c:v>
                </c:pt>
                <c:pt idx="3">
                  <c:v>F1</c:v>
                </c:pt>
                <c:pt idx="4">
                  <c:v>AUC</c:v>
                </c:pt>
              </c:strCache>
            </c:strRef>
          </c:cat>
          <c:val>
            <c:numRef>
              <c:f>Sheet1!$C$2:$C$6</c:f>
              <c:numCache>
                <c:formatCode>General</c:formatCode>
                <c:ptCount val="5"/>
                <c:pt idx="0">
                  <c:v>0.98419999999999996</c:v>
                </c:pt>
                <c:pt idx="1">
                  <c:v>0.94230000000000003</c:v>
                </c:pt>
                <c:pt idx="2">
                  <c:v>0.96950000000000003</c:v>
                </c:pt>
                <c:pt idx="3">
                  <c:v>0.95509999999999995</c:v>
                </c:pt>
                <c:pt idx="4">
                  <c:v>0.99160000000000004</c:v>
                </c:pt>
              </c:numCache>
            </c:numRef>
          </c:val>
          <c:extLst>
            <c:ext xmlns:c16="http://schemas.microsoft.com/office/drawing/2014/chart" uri="{C3380CC4-5D6E-409C-BE32-E72D297353CC}">
              <c16:uniqueId val="{00000001-A0C4-4224-8F09-1BA69B50CA2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5A6A"/>
                </a:solidFill>
                <a:latin typeface="Arial"/>
              </a:defRPr>
            </a:pPr>
            <a:endParaRPr lang="en-NG"/>
          </a:p>
        </c:txPr>
        <c:crossAx val="2094734552"/>
        <c:crosses val="autoZero"/>
        <c:auto val="1"/>
        <c:lblAlgn val="ctr"/>
        <c:lblOffset val="100"/>
        <c:noMultiLvlLbl val="1"/>
      </c:catAx>
      <c:valAx>
        <c:axId val="2094734552"/>
        <c:scaling>
          <c:orientation val="minMax"/>
          <c:max val="1"/>
          <c:min val="0.85"/>
        </c:scaling>
        <c:delete val="0"/>
        <c:axPos val="l"/>
        <c:majorGridlines>
          <c:spPr>
            <a:ln w="6350" cap="flat">
              <a:solidFill>
                <a:srgbClr val="E2E2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5A6A"/>
                </a:solidFill>
                <a:latin typeface="Arial"/>
              </a:defRPr>
            </a:pPr>
            <a:endParaRPr lang="en-NG"/>
          </a:p>
        </c:txPr>
        <c:crossAx val="2094734554"/>
        <c:crosses val="autoZero"/>
        <c:crossBetween val="between"/>
      </c:valAx>
      <c:spPr>
        <a:noFill/>
        <a:ln>
          <a:noFill/>
        </a:ln>
        <a:effectLst/>
      </c:spPr>
    </c:plotArea>
    <c:legend>
      <c:legendPos val="t"/>
      <c:overlay val="0"/>
      <c:txPr>
        <a:bodyPr/>
        <a:lstStyle/>
        <a:p>
          <a:pPr>
            <a:defRPr sz="1100"/>
          </a:pPr>
          <a:endParaRPr lang="en-NG"/>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26.04.2026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dirty="0"/>
              <a:t>[~20 sec] Good [morning/afternoon]. We're </a:t>
            </a:r>
            <a:r>
              <a:rPr lang="en-US" sz="1400" dirty="0" err="1"/>
              <a:t>Adetoro</a:t>
            </a:r>
            <a:r>
              <a:rPr lang="en-US" sz="1400" dirty="0"/>
              <a:t> and Adeniji from Carnegie Mellon. Today we're presenting FPN-Mamba — a model we built to classify Medulloblastoma brain tumors in children using MRI scans. Let's get into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a:t>[~70 sec — KEY SLIDE]</a:t>
            </a:r>
          </a:p>
          <a:p>
            <a:r>
              <a:rPr lang="en-US" sz="1400"/>
              <a:t>Medulloblastoma is the most common malignant brain tumor in children, making up 20% of pediatric brain tumors. The core problem: MRI is the only tool radiologists have, but these tumors are tiny, low-contrast, and easy to confuse with other tumor types. That means missed diagnoses are common.</a:t>
            </a:r>
          </a:p>
          <a:p>
            <a:endParaRPr lang="en-US" sz="1400"/>
          </a:p>
          <a:p>
            <a:r>
              <a:rPr lang="en-US" sz="1400"/>
              <a:t>And a missed diagnosis is not a metric error — it is a child who doesn't get treated in time. That framing shaped every decision we made in this project. Our goal wasn't to beat a benchmark. It was to reduce the number of children whose tumors get missed.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a:t>[~65 sec — KEY SLIDE]</a:t>
            </a:r>
          </a:p>
          <a:p>
            <a:r>
              <a:rPr lang="en-US" sz="1400"/>
              <a:t>Here's the landscape of existing approaches. CNN+attention models lack both multi-scale processing and global context. FPN gives you multi-scale but no global context. Mamba SSM gives global context but only at one scale. InceptiontionNet — our baseline — partially handles multi-scale but only at a single coarse level, and still has quadratic complexity.</a:t>
            </a:r>
          </a:p>
          <a:p>
            <a:endParaRPr lang="en-US" sz="1400"/>
          </a:p>
          <a:p>
            <a:r>
              <a:rPr lang="en-US" sz="1400"/>
              <a:t>The gap is clear: no prior work combines full multi-scale features with global context at linear complexity for MB classification. That's exactly what FPN-Mamba is designed to do.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dirty="0"/>
              <a:t>[~20 sec] </a:t>
            </a:r>
            <a:r>
              <a:rPr lang="en-US" sz="1400" dirty="0" err="1"/>
              <a:t>InceptiontionNet</a:t>
            </a:r>
            <a:r>
              <a:rPr lang="en-US" sz="1400" dirty="0"/>
              <a:t> scores 98% accuracy — but Fang et al. admit their false negatives cluster on small lesions and atypical locations. That's the hardest and most important 2%. Reducing FN rate from ~500 to 300 cases globally means 200 fewer missed children. That's why we built on top of this baseline.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a:t>[~20 sec] Our dataset: 761 MRI images, 131 MB vs 630 Non-MB — a 4.85x imbalance. We corrected for this with pos_weight in the loss function and heavier augmentation on the MB class. Evaluation used 5-fold stratified cross-validation to ensure reliable results across all splits.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dirty="0"/>
              <a:t>[~25 sec] FPN-Mamba has four stages: EfficientNet-B2 backbone that extracts features at 4 scales (C2–C5). The FPN Neck fuses them using our </a:t>
            </a:r>
            <a:r>
              <a:rPr lang="en-US" sz="1400" dirty="0" err="1"/>
              <a:t>LocalityMixing</a:t>
            </a:r>
            <a:r>
              <a:rPr lang="en-US" sz="1400" dirty="0"/>
              <a:t> block — local conv + Bidirectional Mamba, which is then blended by a learned gate. A Cross-Scale Mamba then reasons across all pyramid levels. Finally </a:t>
            </a:r>
            <a:r>
              <a:rPr lang="en-US" sz="1400" dirty="0" err="1"/>
              <a:t>GeM</a:t>
            </a:r>
            <a:r>
              <a:rPr lang="en-US" sz="1400" dirty="0"/>
              <a:t> pooling + SE attention + FC head outputs MB or Non-MB.</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dirty="0"/>
              <a:t>[~75 sec — KEY SLIDE]</a:t>
            </a:r>
          </a:p>
          <a:p>
            <a:r>
              <a:rPr lang="en-US" sz="1400" dirty="0"/>
              <a:t>Let me walk through the full data flow. Input is 224x224. EfficientNet-B2 outputs C2 at 56x56, C3 at 28x28, C4 at 14x14, C5 at 7x7 and Each of them is projected to 256 channels via 1x1 lateral convolutions.</a:t>
            </a:r>
          </a:p>
          <a:p>
            <a:endParaRPr lang="en-US" sz="1400" dirty="0"/>
          </a:p>
          <a:p>
            <a:r>
              <a:rPr lang="en-US" sz="1400" dirty="0"/>
              <a:t>Inside the FPN Neck, each level goes through </a:t>
            </a:r>
            <a:r>
              <a:rPr lang="en-US" sz="1400" dirty="0" err="1"/>
              <a:t>LocalityMixing</a:t>
            </a:r>
            <a:r>
              <a:rPr lang="en-US" sz="1400" dirty="0"/>
              <a:t> which has 3 structure,  a DWConv3x3 that captures local texture, a Bidirectional Mamba captures global context across the whole feature map, and a sigmoid gate learns how to blend them. This gives us rich, multi-scale feature maps P2–P5.</a:t>
            </a:r>
          </a:p>
          <a:p>
            <a:endParaRPr lang="en-US" sz="1400" dirty="0"/>
          </a:p>
          <a:p>
            <a:r>
              <a:rPr lang="en-US" sz="1400" dirty="0"/>
              <a:t>All four maps are then flattened and concatenated into one sequence for the Cross-Scale Bidirectional Mamba. this is where the model connects patterns across different resolutions. The output is then reshaped, pooled with </a:t>
            </a:r>
            <a:r>
              <a:rPr lang="en-US" sz="1400" dirty="0" err="1"/>
              <a:t>GeM</a:t>
            </a:r>
            <a:r>
              <a:rPr lang="en-US" sz="1400" dirty="0"/>
              <a:t> (p=3), recalibrated by SE channel attention, and classified by a 3-layer FC head with dropout. Sigmoid outputs the final MB/Non-MB probability.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dirty="0"/>
              <a:t>[~70 sec — KEY SLIDE]</a:t>
            </a:r>
          </a:p>
          <a:p>
            <a:r>
              <a:rPr lang="en-US" sz="1400" dirty="0"/>
              <a:t>FPN-Mamba beats the baseline on 4 of 5 metrics. Precision up +2.80pp (0.914 to 0.942). F1 up +1.97pp (0.935 to 0.955). Accuracy up to 0.984, Recall to 0.970. AUC stays near-perfect at 0.992.</a:t>
            </a:r>
          </a:p>
          <a:p>
            <a:endParaRPr lang="en-US" sz="1400" dirty="0"/>
          </a:p>
          <a:p>
            <a:r>
              <a:rPr lang="en-US" sz="1400" dirty="0"/>
              <a:t>But the most important number here is false negatives: 3 versus ~5 for the baseline. That's a 40% reduction in missed diagnoses. In a real-world context, that gap translates directly to children receiving timely treatment. These numbers come from one dataset, so external validation is still needed — but the direction is exactly what we designed for.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dirty="0"/>
              <a:t>[~20 sec] To summarize: FPN-Mamba achieves multi-scale detection, linear-complexity global context, and clinically-oriented results. Limitations: no external dataset, no formal ablation study yet. Next steps: generalize to image segmentation, ablation study, and larger multi-institutional data.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dirty="0"/>
              <a:t>[~15 sec] Three takeaways: FPNs were first introduced in class for object detection, we were able to see it applied directly to real medical imaging. Another lesson is that Deep literature review is non negotiable. And in healthcare AI, every false negative has a human cost and that reframing changed how we built everything.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45614-739A-10AD-5C45-500B03CE47E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CB11EC0-C085-2E70-E6FA-E5C0CE117C4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1EAB607-3C16-4F09-9071-13AA4A205B2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B5F6ADC-8AEA-5CCC-2EC8-969FC869DFD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772876A-5735-3562-F39A-08BE8BE51C0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dirty="0"/>
              <a:t>[~15 sec] Three takeaways: FPNs were first introduced in class for object detection, we were able to see it applied directly to real medical imaging. Another lesson is that Deep literature review is non negotiable. And in healthcare AI, every false negative has a human cost and that reframing changed how we built everything.</a:t>
            </a:r>
          </a:p>
        </p:txBody>
      </p:sp>
      <p:sp>
        <p:nvSpPr>
          <p:cNvPr id="6" name="Footer Placeholder 5">
            <a:extLst>
              <a:ext uri="{FF2B5EF4-FFF2-40B4-BE49-F238E27FC236}">
                <a16:creationId xmlns:a16="http://schemas.microsoft.com/office/drawing/2014/main" id="{E84919ED-2883-3F19-17EF-509C4E15728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BB04D96-FA07-DC4D-399B-AD3E12E3E47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5695219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400"/>
              <a:t>[~10 sec] Thank you. We're happy to take questions — especially on LocalityMixing internals, the class imbalance handling, or our false negative results.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chart" Target="../charts/char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597778" y="2092328"/>
            <a:ext cx="120653" cy="15316200"/>
            <a:chOff x="0" y="0"/>
            <a:chExt cx="160871" cy="20421600"/>
          </a:xfrm>
        </p:grpSpPr>
        <p:sp>
          <p:nvSpPr>
            <p:cNvPr id="3" name="Freeform 3"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txBody>
            <a:bodyPr/>
            <a:lstStyle/>
            <a:p>
              <a:endParaRPr lang="en-150"/>
            </a:p>
          </p:txBody>
        </p:sp>
      </p:grpSp>
      <p:grpSp>
        <p:nvGrpSpPr>
          <p:cNvPr id="4" name="Group 4"/>
          <p:cNvGrpSpPr/>
          <p:nvPr/>
        </p:nvGrpSpPr>
        <p:grpSpPr>
          <a:xfrm rot="5400000">
            <a:off x="7597778" y="2092328"/>
            <a:ext cx="120653" cy="15316200"/>
            <a:chOff x="0" y="0"/>
            <a:chExt cx="160871" cy="20421600"/>
          </a:xfrm>
        </p:grpSpPr>
        <p:sp>
          <p:nvSpPr>
            <p:cNvPr id="5" name="Freeform 5"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txBody>
            <a:bodyPr/>
            <a:lstStyle/>
            <a:p>
              <a:endParaRPr lang="en-150"/>
            </a:p>
          </p:txBody>
        </p:sp>
      </p:grpSp>
      <p:grpSp>
        <p:nvGrpSpPr>
          <p:cNvPr id="6" name="Group 6"/>
          <p:cNvGrpSpPr/>
          <p:nvPr/>
        </p:nvGrpSpPr>
        <p:grpSpPr>
          <a:xfrm>
            <a:off x="15544800" y="8496300"/>
            <a:ext cx="2309184" cy="1472784"/>
            <a:chOff x="0" y="0"/>
            <a:chExt cx="3078912" cy="1963712"/>
          </a:xfrm>
        </p:grpSpPr>
        <p:sp>
          <p:nvSpPr>
            <p:cNvPr id="7" name="Freeform 7"/>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4"/>
              <a:stretch>
                <a:fillRect r="-1" b="-1"/>
              </a:stretch>
            </a:blipFill>
          </p:spPr>
          <p:txBody>
            <a:bodyPr/>
            <a:lstStyle/>
            <a:p>
              <a:endParaRPr lang="en-150"/>
            </a:p>
          </p:txBody>
        </p:sp>
      </p:grpSp>
      <p:sp>
        <p:nvSpPr>
          <p:cNvPr id="8" name="TextBox 8"/>
          <p:cNvSpPr txBox="1"/>
          <p:nvPr/>
        </p:nvSpPr>
        <p:spPr>
          <a:xfrm>
            <a:off x="17160221" y="217808"/>
            <a:ext cx="830932" cy="460391"/>
          </a:xfrm>
          <a:prstGeom prst="rect">
            <a:avLst/>
          </a:prstGeom>
        </p:spPr>
        <p:txBody>
          <a:bodyPr lIns="0" tIns="0" rIns="0" bIns="0" rtlCol="0" anchor="t">
            <a:spAutoFit/>
          </a:bodyPr>
          <a:lstStyle/>
          <a:p>
            <a:pPr algn="r">
              <a:lnSpc>
                <a:spcPts val="2640"/>
              </a:lnSpc>
            </a:pPr>
            <a:r>
              <a:rPr lang="en-US" sz="2200">
                <a:solidFill>
                  <a:srgbClr val="7F7F7F"/>
                </a:solidFill>
                <a:latin typeface="Helvetica"/>
                <a:ea typeface="Helvetica"/>
                <a:cs typeface="Helvetica"/>
                <a:sym typeface="Helvetica"/>
              </a:rPr>
              <a:t>‹#›</a:t>
            </a:r>
          </a:p>
        </p:txBody>
      </p:sp>
      <p:grpSp>
        <p:nvGrpSpPr>
          <p:cNvPr id="9" name="Group 9"/>
          <p:cNvGrpSpPr/>
          <p:nvPr/>
        </p:nvGrpSpPr>
        <p:grpSpPr>
          <a:xfrm>
            <a:off x="0" y="0"/>
            <a:ext cx="18288000" cy="10287000"/>
            <a:chOff x="0" y="0"/>
            <a:chExt cx="24384000" cy="13716000"/>
          </a:xfrm>
        </p:grpSpPr>
        <p:sp>
          <p:nvSpPr>
            <p:cNvPr id="10" name="Freeform 10"/>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BB0027"/>
            </a:solidFill>
          </p:spPr>
          <p:txBody>
            <a:bodyPr/>
            <a:lstStyle/>
            <a:p>
              <a:endParaRPr lang="en-150"/>
            </a:p>
          </p:txBody>
        </p:sp>
      </p:grpSp>
      <p:grpSp>
        <p:nvGrpSpPr>
          <p:cNvPr id="11" name="Group 11"/>
          <p:cNvGrpSpPr/>
          <p:nvPr/>
        </p:nvGrpSpPr>
        <p:grpSpPr>
          <a:xfrm>
            <a:off x="4419600" y="1790700"/>
            <a:ext cx="6858000" cy="612772"/>
            <a:chOff x="0" y="0"/>
            <a:chExt cx="9144000" cy="817029"/>
          </a:xfrm>
        </p:grpSpPr>
        <p:sp>
          <p:nvSpPr>
            <p:cNvPr id="12" name="Freeform 12"/>
            <p:cNvSpPr/>
            <p:nvPr/>
          </p:nvSpPr>
          <p:spPr>
            <a:xfrm>
              <a:off x="0" y="0"/>
              <a:ext cx="9144000" cy="816991"/>
            </a:xfrm>
            <a:custGeom>
              <a:avLst/>
              <a:gdLst/>
              <a:ahLst/>
              <a:cxnLst/>
              <a:rect l="l" t="t" r="r" b="b"/>
              <a:pathLst>
                <a:path w="9144000" h="816991">
                  <a:moveTo>
                    <a:pt x="0" y="0"/>
                  </a:moveTo>
                  <a:lnTo>
                    <a:pt x="9144000" y="0"/>
                  </a:lnTo>
                  <a:lnTo>
                    <a:pt x="9144000" y="816991"/>
                  </a:lnTo>
                  <a:lnTo>
                    <a:pt x="0" y="816991"/>
                  </a:lnTo>
                  <a:lnTo>
                    <a:pt x="0" y="0"/>
                  </a:lnTo>
                  <a:close/>
                </a:path>
              </a:pathLst>
            </a:custGeom>
            <a:blipFill>
              <a:blip r:embed="rId5"/>
              <a:stretch>
                <a:fillRect r="-621" b="-4"/>
              </a:stretch>
            </a:blipFill>
          </p:spPr>
          <p:txBody>
            <a:bodyPr/>
            <a:lstStyle/>
            <a:p>
              <a:endParaRPr lang="en-150"/>
            </a:p>
          </p:txBody>
        </p:sp>
      </p:grpSp>
      <p:grpSp>
        <p:nvGrpSpPr>
          <p:cNvPr id="13" name="Group 13"/>
          <p:cNvGrpSpPr/>
          <p:nvPr/>
        </p:nvGrpSpPr>
        <p:grpSpPr>
          <a:xfrm>
            <a:off x="914400" y="0"/>
            <a:ext cx="1581150" cy="10287000"/>
            <a:chOff x="0" y="0"/>
            <a:chExt cx="2108200" cy="13716000"/>
          </a:xfrm>
        </p:grpSpPr>
        <p:sp>
          <p:nvSpPr>
            <p:cNvPr id="14" name="Freeform 14" descr="_Plaid-Digital_FINAL-NEW.png"/>
            <p:cNvSpPr/>
            <p:nvPr/>
          </p:nvSpPr>
          <p:spPr>
            <a:xfrm>
              <a:off x="0" y="0"/>
              <a:ext cx="2108200" cy="13716000"/>
            </a:xfrm>
            <a:custGeom>
              <a:avLst/>
              <a:gdLst/>
              <a:ahLst/>
              <a:cxnLst/>
              <a:rect l="l" t="t" r="r" b="b"/>
              <a:pathLst>
                <a:path w="2108200" h="13716000">
                  <a:moveTo>
                    <a:pt x="0" y="0"/>
                  </a:moveTo>
                  <a:lnTo>
                    <a:pt x="2108200" y="0"/>
                  </a:lnTo>
                  <a:lnTo>
                    <a:pt x="2108200" y="13716000"/>
                  </a:lnTo>
                  <a:lnTo>
                    <a:pt x="0" y="13716000"/>
                  </a:lnTo>
                  <a:lnTo>
                    <a:pt x="0" y="0"/>
                  </a:lnTo>
                  <a:close/>
                </a:path>
              </a:pathLst>
            </a:custGeom>
            <a:blipFill>
              <a:blip r:embed="rId3"/>
              <a:stretch>
                <a:fillRect l="-807471" t="-32413" r="-45454" b="-2711"/>
              </a:stretch>
            </a:blipFill>
          </p:spPr>
          <p:txBody>
            <a:bodyPr/>
            <a:lstStyle/>
            <a:p>
              <a:endParaRPr lang="en-150"/>
            </a:p>
          </p:txBody>
        </p:sp>
      </p:grpSp>
      <p:grpSp>
        <p:nvGrpSpPr>
          <p:cNvPr id="15" name="Group 15"/>
          <p:cNvGrpSpPr/>
          <p:nvPr/>
        </p:nvGrpSpPr>
        <p:grpSpPr>
          <a:xfrm>
            <a:off x="0" y="0"/>
            <a:ext cx="18288000" cy="10287000"/>
            <a:chOff x="0" y="0"/>
            <a:chExt cx="24384000" cy="13716000"/>
          </a:xfrm>
        </p:grpSpPr>
        <p:sp>
          <p:nvSpPr>
            <p:cNvPr id="16" name="Freeform 16"/>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BB0027"/>
            </a:solidFill>
          </p:spPr>
          <p:txBody>
            <a:bodyPr/>
            <a:lstStyle/>
            <a:p>
              <a:endParaRPr lang="en-150"/>
            </a:p>
          </p:txBody>
        </p:sp>
      </p:grpSp>
      <p:grpSp>
        <p:nvGrpSpPr>
          <p:cNvPr id="17" name="Group 17"/>
          <p:cNvGrpSpPr/>
          <p:nvPr/>
        </p:nvGrpSpPr>
        <p:grpSpPr>
          <a:xfrm>
            <a:off x="4419600" y="1790700"/>
            <a:ext cx="6858000" cy="612772"/>
            <a:chOff x="0" y="0"/>
            <a:chExt cx="9144000" cy="817029"/>
          </a:xfrm>
        </p:grpSpPr>
        <p:sp>
          <p:nvSpPr>
            <p:cNvPr id="18" name="Freeform 18"/>
            <p:cNvSpPr/>
            <p:nvPr/>
          </p:nvSpPr>
          <p:spPr>
            <a:xfrm>
              <a:off x="0" y="0"/>
              <a:ext cx="9144000" cy="816991"/>
            </a:xfrm>
            <a:custGeom>
              <a:avLst/>
              <a:gdLst/>
              <a:ahLst/>
              <a:cxnLst/>
              <a:rect l="l" t="t" r="r" b="b"/>
              <a:pathLst>
                <a:path w="9144000" h="816991">
                  <a:moveTo>
                    <a:pt x="0" y="0"/>
                  </a:moveTo>
                  <a:lnTo>
                    <a:pt x="9144000" y="0"/>
                  </a:lnTo>
                  <a:lnTo>
                    <a:pt x="9144000" y="816991"/>
                  </a:lnTo>
                  <a:lnTo>
                    <a:pt x="0" y="816991"/>
                  </a:lnTo>
                  <a:lnTo>
                    <a:pt x="0" y="0"/>
                  </a:lnTo>
                  <a:close/>
                </a:path>
              </a:pathLst>
            </a:custGeom>
            <a:blipFill>
              <a:blip r:embed="rId5"/>
              <a:stretch>
                <a:fillRect r="-621" b="-4"/>
              </a:stretch>
            </a:blipFill>
          </p:spPr>
          <p:txBody>
            <a:bodyPr/>
            <a:lstStyle/>
            <a:p>
              <a:endParaRPr lang="en-150"/>
            </a:p>
          </p:txBody>
        </p:sp>
      </p:grpSp>
      <p:grpSp>
        <p:nvGrpSpPr>
          <p:cNvPr id="19" name="Group 19"/>
          <p:cNvGrpSpPr/>
          <p:nvPr/>
        </p:nvGrpSpPr>
        <p:grpSpPr>
          <a:xfrm>
            <a:off x="914400" y="0"/>
            <a:ext cx="1581150" cy="10287000"/>
            <a:chOff x="0" y="0"/>
            <a:chExt cx="2108200" cy="13716000"/>
          </a:xfrm>
        </p:grpSpPr>
        <p:sp>
          <p:nvSpPr>
            <p:cNvPr id="20" name="Freeform 20" descr="_Plaid-Digital_FINAL-NEW.png"/>
            <p:cNvSpPr/>
            <p:nvPr/>
          </p:nvSpPr>
          <p:spPr>
            <a:xfrm>
              <a:off x="0" y="0"/>
              <a:ext cx="2108200" cy="13716000"/>
            </a:xfrm>
            <a:custGeom>
              <a:avLst/>
              <a:gdLst/>
              <a:ahLst/>
              <a:cxnLst/>
              <a:rect l="l" t="t" r="r" b="b"/>
              <a:pathLst>
                <a:path w="2108200" h="13716000">
                  <a:moveTo>
                    <a:pt x="0" y="0"/>
                  </a:moveTo>
                  <a:lnTo>
                    <a:pt x="2108200" y="0"/>
                  </a:lnTo>
                  <a:lnTo>
                    <a:pt x="2108200" y="13716000"/>
                  </a:lnTo>
                  <a:lnTo>
                    <a:pt x="0" y="13716000"/>
                  </a:lnTo>
                  <a:lnTo>
                    <a:pt x="0" y="0"/>
                  </a:lnTo>
                  <a:close/>
                </a:path>
              </a:pathLst>
            </a:custGeom>
            <a:blipFill>
              <a:blip r:embed="rId3"/>
              <a:stretch>
                <a:fillRect l="-807471" t="-32413" r="-45454" b="-2711"/>
              </a:stretch>
            </a:blipFill>
          </p:spPr>
          <p:txBody>
            <a:bodyPr/>
            <a:lstStyle/>
            <a:p>
              <a:endParaRPr lang="en-150"/>
            </a:p>
          </p:txBody>
        </p:sp>
      </p:grpSp>
      <p:sp>
        <p:nvSpPr>
          <p:cNvPr id="21" name="AutoShape 21"/>
          <p:cNvSpPr/>
          <p:nvPr/>
        </p:nvSpPr>
        <p:spPr>
          <a:xfrm rot="5940">
            <a:off x="4410065" y="7424738"/>
            <a:ext cx="10991869" cy="0"/>
          </a:xfrm>
          <a:prstGeom prst="line">
            <a:avLst/>
          </a:prstGeom>
          <a:ln w="9525" cap="rnd">
            <a:solidFill>
              <a:srgbClr val="FFFFFF"/>
            </a:solidFill>
            <a:prstDash val="solid"/>
            <a:headEnd type="none" w="sm" len="sm"/>
            <a:tailEnd type="none" w="sm" len="sm"/>
          </a:ln>
        </p:spPr>
        <p:txBody>
          <a:bodyPr/>
          <a:lstStyle/>
          <a:p>
            <a:endParaRPr lang="en-150"/>
          </a:p>
        </p:txBody>
      </p:sp>
      <p:sp>
        <p:nvSpPr>
          <p:cNvPr id="22" name="TextBox 22"/>
          <p:cNvSpPr txBox="1"/>
          <p:nvPr/>
        </p:nvSpPr>
        <p:spPr>
          <a:xfrm>
            <a:off x="4852807" y="7727142"/>
            <a:ext cx="11846585" cy="485775"/>
          </a:xfrm>
          <a:prstGeom prst="rect">
            <a:avLst/>
          </a:prstGeom>
        </p:spPr>
        <p:txBody>
          <a:bodyPr lIns="0" tIns="0" rIns="0" bIns="0" rtlCol="0" anchor="t">
            <a:spAutoFit/>
          </a:bodyPr>
          <a:lstStyle/>
          <a:p>
            <a:pPr algn="l">
              <a:lnSpc>
                <a:spcPts val="3840"/>
              </a:lnSpc>
            </a:pPr>
            <a:r>
              <a:rPr lang="en-US" sz="3200" dirty="0">
                <a:solidFill>
                  <a:srgbClr val="FFFFFF"/>
                </a:solidFill>
                <a:latin typeface="Montserrat"/>
                <a:ea typeface="Montserrat"/>
                <a:cs typeface="Montserrat"/>
                <a:sym typeface="Montserrat"/>
              </a:rPr>
              <a:t>								26/04/2026</a:t>
            </a:r>
          </a:p>
        </p:txBody>
      </p:sp>
      <p:sp>
        <p:nvSpPr>
          <p:cNvPr id="23" name="TextBox 23"/>
          <p:cNvSpPr txBox="1"/>
          <p:nvPr/>
        </p:nvSpPr>
        <p:spPr>
          <a:xfrm>
            <a:off x="2312347" y="3676594"/>
            <a:ext cx="14847874" cy="1860192"/>
          </a:xfrm>
          <a:prstGeom prst="rect">
            <a:avLst/>
          </a:prstGeom>
        </p:spPr>
        <p:txBody>
          <a:bodyPr lIns="0" tIns="0" rIns="0" bIns="0" rtlCol="0" anchor="t">
            <a:spAutoFit/>
          </a:bodyPr>
          <a:lstStyle/>
          <a:p>
            <a:pPr algn="ctr">
              <a:lnSpc>
                <a:spcPts val="4934"/>
              </a:lnSpc>
            </a:pPr>
            <a:r>
              <a:rPr lang="en-US" sz="4112">
                <a:solidFill>
                  <a:srgbClr val="FFFFFF"/>
                </a:solidFill>
                <a:latin typeface="League Spartan"/>
                <a:ea typeface="League Spartan"/>
                <a:cs typeface="League Spartan"/>
                <a:sym typeface="League Spartan"/>
              </a:rPr>
              <a:t>FPN-Mamba: A Feature Pyramid Network with</a:t>
            </a:r>
          </a:p>
          <a:p>
            <a:pPr algn="ctr">
              <a:lnSpc>
                <a:spcPts val="4934"/>
              </a:lnSpc>
            </a:pPr>
            <a:r>
              <a:rPr lang="en-US" sz="4112">
                <a:solidFill>
                  <a:srgbClr val="FFFFFF"/>
                </a:solidFill>
                <a:latin typeface="League Spartan"/>
                <a:ea typeface="League Spartan"/>
                <a:cs typeface="League Spartan"/>
                <a:sym typeface="League Spartan"/>
              </a:rPr>
              <a:t>Bidirectional State Space Models for</a:t>
            </a:r>
          </a:p>
          <a:p>
            <a:pPr algn="ctr">
              <a:lnSpc>
                <a:spcPts val="4934"/>
              </a:lnSpc>
              <a:spcBef>
                <a:spcPct val="0"/>
              </a:spcBef>
            </a:pPr>
            <a:r>
              <a:rPr lang="en-US" sz="4112">
                <a:solidFill>
                  <a:srgbClr val="FFFFFF"/>
                </a:solidFill>
                <a:latin typeface="League Spartan"/>
                <a:ea typeface="League Spartan"/>
                <a:cs typeface="League Spartan"/>
                <a:sym typeface="League Spartan"/>
              </a:rPr>
              <a:t>Medulloblastoma Classification</a:t>
            </a:r>
          </a:p>
        </p:txBody>
      </p:sp>
      <p:sp>
        <p:nvSpPr>
          <p:cNvPr id="24" name="TextBox 24"/>
          <p:cNvSpPr txBox="1"/>
          <p:nvPr/>
        </p:nvSpPr>
        <p:spPr>
          <a:xfrm>
            <a:off x="5729102" y="6233126"/>
            <a:ext cx="11846585" cy="485775"/>
          </a:xfrm>
          <a:prstGeom prst="rect">
            <a:avLst/>
          </a:prstGeom>
        </p:spPr>
        <p:txBody>
          <a:bodyPr lIns="0" tIns="0" rIns="0" bIns="0" rtlCol="0" anchor="t">
            <a:spAutoFit/>
          </a:bodyPr>
          <a:lstStyle/>
          <a:p>
            <a:pPr algn="l">
              <a:lnSpc>
                <a:spcPts val="3840"/>
              </a:lnSpc>
            </a:pPr>
            <a:r>
              <a:rPr lang="en-US" sz="3200">
                <a:solidFill>
                  <a:srgbClr val="FFFFFF"/>
                </a:solidFill>
                <a:latin typeface="Montserrat"/>
                <a:ea typeface="Montserrat"/>
                <a:cs typeface="Montserrat"/>
                <a:sym typeface="Montserrat"/>
              </a:rPr>
              <a:t>Adetoro Damilola | Adeniji Samuel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544800" y="8496300"/>
            <a:ext cx="2309184" cy="1472784"/>
            <a:chOff x="0" y="0"/>
            <a:chExt cx="3078912" cy="1963712"/>
          </a:xfrm>
        </p:grpSpPr>
        <p:sp>
          <p:nvSpPr>
            <p:cNvPr id="3" name="Freeform 3"/>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3"/>
              <a:stretch>
                <a:fillRect r="-1" b="-1"/>
              </a:stretch>
            </a:blipFill>
          </p:spPr>
          <p:txBody>
            <a:bodyPr/>
            <a:lstStyle/>
            <a:p>
              <a:endParaRPr lang="en-150"/>
            </a:p>
          </p:txBody>
        </p:sp>
      </p:grpSp>
      <p:sp>
        <p:nvSpPr>
          <p:cNvPr id="4" name="Freeform 4"/>
          <p:cNvSpPr/>
          <p:nvPr/>
        </p:nvSpPr>
        <p:spPr>
          <a:xfrm rot="5400000">
            <a:off x="11913076" y="2714093"/>
            <a:ext cx="8307033" cy="2878846"/>
          </a:xfrm>
          <a:custGeom>
            <a:avLst/>
            <a:gdLst/>
            <a:ahLst/>
            <a:cxnLst/>
            <a:rect l="l" t="t" r="r" b="b"/>
            <a:pathLst>
              <a:path w="8307033" h="2878846">
                <a:moveTo>
                  <a:pt x="0" y="0"/>
                </a:moveTo>
                <a:lnTo>
                  <a:pt x="8307033" y="0"/>
                </a:lnTo>
                <a:lnTo>
                  <a:pt x="8307033" y="2878846"/>
                </a:lnTo>
                <a:lnTo>
                  <a:pt x="0" y="2878846"/>
                </a:lnTo>
                <a:lnTo>
                  <a:pt x="0" y="0"/>
                </a:lnTo>
                <a:close/>
              </a:path>
            </a:pathLst>
          </a:custGeom>
          <a:blipFill>
            <a:blip r:embed="rId4"/>
            <a:stretch>
              <a:fillRect l="-2316" t="-10708" b="-10708"/>
            </a:stretch>
          </a:blipFill>
        </p:spPr>
        <p:txBody>
          <a:bodyPr/>
          <a:lstStyle/>
          <a:p>
            <a:endParaRPr lang="en-150"/>
          </a:p>
        </p:txBody>
      </p:sp>
      <p:grpSp>
        <p:nvGrpSpPr>
          <p:cNvPr id="5" name="Group 5"/>
          <p:cNvGrpSpPr/>
          <p:nvPr/>
        </p:nvGrpSpPr>
        <p:grpSpPr>
          <a:xfrm rot="5400000">
            <a:off x="7597778" y="2092328"/>
            <a:ext cx="120653" cy="15316200"/>
            <a:chOff x="0" y="0"/>
            <a:chExt cx="160871" cy="20421600"/>
          </a:xfrm>
        </p:grpSpPr>
        <p:sp>
          <p:nvSpPr>
            <p:cNvPr id="6" name="Freeform 6"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5"/>
              <a:stretch>
                <a:fillRect l="-10746179" t="-27381" r="-7199463" b="-3794"/>
              </a:stretch>
            </a:blipFill>
          </p:spPr>
          <p:txBody>
            <a:bodyPr/>
            <a:lstStyle/>
            <a:p>
              <a:endParaRPr lang="en-150"/>
            </a:p>
          </p:txBody>
        </p:sp>
      </p:grpSp>
      <p:sp>
        <p:nvSpPr>
          <p:cNvPr id="7" name="Freeform 7"/>
          <p:cNvSpPr/>
          <p:nvPr/>
        </p:nvSpPr>
        <p:spPr>
          <a:xfrm>
            <a:off x="1028700" y="1319001"/>
            <a:ext cx="15037892" cy="7913691"/>
          </a:xfrm>
          <a:custGeom>
            <a:avLst/>
            <a:gdLst/>
            <a:ahLst/>
            <a:cxnLst/>
            <a:rect l="l" t="t" r="r" b="b"/>
            <a:pathLst>
              <a:path w="15037892" h="7913691">
                <a:moveTo>
                  <a:pt x="0" y="0"/>
                </a:moveTo>
                <a:lnTo>
                  <a:pt x="15037892" y="0"/>
                </a:lnTo>
                <a:lnTo>
                  <a:pt x="15037892" y="7913691"/>
                </a:lnTo>
                <a:lnTo>
                  <a:pt x="0" y="7913691"/>
                </a:lnTo>
                <a:lnTo>
                  <a:pt x="0" y="0"/>
                </a:lnTo>
                <a:close/>
              </a:path>
            </a:pathLst>
          </a:custGeom>
          <a:blipFill>
            <a:blip r:embed="rId6"/>
            <a:stretch>
              <a:fillRect/>
            </a:stretch>
          </a:blipFill>
        </p:spPr>
        <p:txBody>
          <a:bodyPr/>
          <a:lstStyle/>
          <a:p>
            <a:endParaRPr lang="en-1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597778" y="2092328"/>
            <a:ext cx="120653" cy="15316200"/>
            <a:chOff x="0" y="0"/>
            <a:chExt cx="160871" cy="20421600"/>
          </a:xfrm>
        </p:grpSpPr>
        <p:sp>
          <p:nvSpPr>
            <p:cNvPr id="3" name="Freeform 3"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txBody>
            <a:bodyPr/>
            <a:lstStyle/>
            <a:p>
              <a:endParaRPr lang="en-150"/>
            </a:p>
          </p:txBody>
        </p:sp>
      </p:grpSp>
      <p:grpSp>
        <p:nvGrpSpPr>
          <p:cNvPr id="4" name="Group 4"/>
          <p:cNvGrpSpPr/>
          <p:nvPr/>
        </p:nvGrpSpPr>
        <p:grpSpPr>
          <a:xfrm rot="5400000">
            <a:off x="7597778" y="2092328"/>
            <a:ext cx="120653" cy="15316200"/>
            <a:chOff x="0" y="0"/>
            <a:chExt cx="160871" cy="20421600"/>
          </a:xfrm>
        </p:grpSpPr>
        <p:sp>
          <p:nvSpPr>
            <p:cNvPr id="5" name="Freeform 5"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txBody>
            <a:bodyPr/>
            <a:lstStyle/>
            <a:p>
              <a:endParaRPr lang="en-150"/>
            </a:p>
          </p:txBody>
        </p:sp>
      </p:grpSp>
      <p:grpSp>
        <p:nvGrpSpPr>
          <p:cNvPr id="6" name="Group 6"/>
          <p:cNvGrpSpPr/>
          <p:nvPr/>
        </p:nvGrpSpPr>
        <p:grpSpPr>
          <a:xfrm>
            <a:off x="15544800" y="8496300"/>
            <a:ext cx="2309184" cy="1472784"/>
            <a:chOff x="0" y="0"/>
            <a:chExt cx="3078912" cy="1963712"/>
          </a:xfrm>
        </p:grpSpPr>
        <p:sp>
          <p:nvSpPr>
            <p:cNvPr id="7" name="Freeform 7"/>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4"/>
              <a:stretch>
                <a:fillRect r="-1" b="-1"/>
              </a:stretch>
            </a:blipFill>
          </p:spPr>
          <p:txBody>
            <a:bodyPr/>
            <a:lstStyle/>
            <a:p>
              <a:endParaRPr lang="en-150"/>
            </a:p>
          </p:txBody>
        </p:sp>
      </p:grpSp>
      <p:sp>
        <p:nvSpPr>
          <p:cNvPr id="8" name="Freeform 8"/>
          <p:cNvSpPr/>
          <p:nvPr/>
        </p:nvSpPr>
        <p:spPr>
          <a:xfrm>
            <a:off x="2439745" y="2077293"/>
            <a:ext cx="12876459" cy="6132414"/>
          </a:xfrm>
          <a:custGeom>
            <a:avLst/>
            <a:gdLst/>
            <a:ahLst/>
            <a:cxnLst/>
            <a:rect l="l" t="t" r="r" b="b"/>
            <a:pathLst>
              <a:path w="12876459" h="6132414">
                <a:moveTo>
                  <a:pt x="0" y="0"/>
                </a:moveTo>
                <a:lnTo>
                  <a:pt x="12876460" y="0"/>
                </a:lnTo>
                <a:lnTo>
                  <a:pt x="12876460" y="6132414"/>
                </a:lnTo>
                <a:lnTo>
                  <a:pt x="0" y="6132414"/>
                </a:lnTo>
                <a:lnTo>
                  <a:pt x="0" y="0"/>
                </a:lnTo>
                <a:close/>
              </a:path>
            </a:pathLst>
          </a:custGeom>
          <a:blipFill>
            <a:blip r:embed="rId5"/>
            <a:stretch>
              <a:fillRect/>
            </a:stretch>
          </a:blipFill>
        </p:spPr>
        <p:txBody>
          <a:bodyPr/>
          <a:lstStyle/>
          <a:p>
            <a:endParaRPr lang="en-150"/>
          </a:p>
        </p:txBody>
      </p:sp>
      <p:sp>
        <p:nvSpPr>
          <p:cNvPr id="9" name="Freeform 9"/>
          <p:cNvSpPr/>
          <p:nvPr/>
        </p:nvSpPr>
        <p:spPr>
          <a:xfrm>
            <a:off x="4736669" y="8169355"/>
            <a:ext cx="8282613" cy="653890"/>
          </a:xfrm>
          <a:custGeom>
            <a:avLst/>
            <a:gdLst/>
            <a:ahLst/>
            <a:cxnLst/>
            <a:rect l="l" t="t" r="r" b="b"/>
            <a:pathLst>
              <a:path w="8282613" h="653890">
                <a:moveTo>
                  <a:pt x="0" y="0"/>
                </a:moveTo>
                <a:lnTo>
                  <a:pt x="8282613" y="0"/>
                </a:lnTo>
                <a:lnTo>
                  <a:pt x="8282613" y="653890"/>
                </a:lnTo>
                <a:lnTo>
                  <a:pt x="0" y="653890"/>
                </a:lnTo>
                <a:lnTo>
                  <a:pt x="0" y="0"/>
                </a:lnTo>
                <a:close/>
              </a:path>
            </a:pathLst>
          </a:custGeom>
          <a:blipFill>
            <a:blip r:embed="rId6"/>
            <a:stretch>
              <a:fillRect/>
            </a:stretch>
          </a:blipFill>
        </p:spPr>
        <p:txBody>
          <a:bodyPr/>
          <a:lstStyle/>
          <a:p>
            <a:endParaRPr lang="en-150"/>
          </a:p>
        </p:txBody>
      </p:sp>
      <p:sp>
        <p:nvSpPr>
          <p:cNvPr id="10" name="Freeform 10"/>
          <p:cNvSpPr/>
          <p:nvPr/>
        </p:nvSpPr>
        <p:spPr>
          <a:xfrm>
            <a:off x="1786206" y="1028700"/>
            <a:ext cx="3080899" cy="585625"/>
          </a:xfrm>
          <a:custGeom>
            <a:avLst/>
            <a:gdLst/>
            <a:ahLst/>
            <a:cxnLst/>
            <a:rect l="l" t="t" r="r" b="b"/>
            <a:pathLst>
              <a:path w="3080899" h="585625">
                <a:moveTo>
                  <a:pt x="0" y="0"/>
                </a:moveTo>
                <a:lnTo>
                  <a:pt x="3080900" y="0"/>
                </a:lnTo>
                <a:lnTo>
                  <a:pt x="3080900" y="585625"/>
                </a:lnTo>
                <a:lnTo>
                  <a:pt x="0" y="585625"/>
                </a:lnTo>
                <a:lnTo>
                  <a:pt x="0" y="0"/>
                </a:lnTo>
                <a:close/>
              </a:path>
            </a:pathLst>
          </a:custGeom>
          <a:blipFill>
            <a:blip r:embed="rId7"/>
            <a:stretch>
              <a:fillRect/>
            </a:stretch>
          </a:blipFill>
        </p:spPr>
        <p:txBody>
          <a:bodyPr/>
          <a:lstStyle/>
          <a:p>
            <a:endParaRPr lang="en-1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597778" y="2092328"/>
            <a:ext cx="120653" cy="15316200"/>
            <a:chOff x="0" y="0"/>
            <a:chExt cx="160871" cy="20421600"/>
          </a:xfrm>
        </p:grpSpPr>
        <p:sp>
          <p:nvSpPr>
            <p:cNvPr id="3" name="Freeform 3"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txBody>
            <a:bodyPr/>
            <a:lstStyle/>
            <a:p>
              <a:endParaRPr lang="en-150"/>
            </a:p>
          </p:txBody>
        </p:sp>
      </p:grpSp>
      <p:grpSp>
        <p:nvGrpSpPr>
          <p:cNvPr id="4" name="Group 4"/>
          <p:cNvGrpSpPr/>
          <p:nvPr/>
        </p:nvGrpSpPr>
        <p:grpSpPr>
          <a:xfrm rot="5400000">
            <a:off x="7597778" y="2092328"/>
            <a:ext cx="120653" cy="15316200"/>
            <a:chOff x="0" y="0"/>
            <a:chExt cx="160871" cy="20421600"/>
          </a:xfrm>
        </p:grpSpPr>
        <p:sp>
          <p:nvSpPr>
            <p:cNvPr id="5" name="Freeform 5"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txBody>
            <a:bodyPr/>
            <a:lstStyle/>
            <a:p>
              <a:endParaRPr lang="en-150"/>
            </a:p>
          </p:txBody>
        </p:sp>
      </p:grpSp>
      <p:grpSp>
        <p:nvGrpSpPr>
          <p:cNvPr id="6" name="Group 6"/>
          <p:cNvGrpSpPr/>
          <p:nvPr/>
        </p:nvGrpSpPr>
        <p:grpSpPr>
          <a:xfrm>
            <a:off x="15544800" y="8496300"/>
            <a:ext cx="2309184" cy="1472784"/>
            <a:chOff x="0" y="0"/>
            <a:chExt cx="3078912" cy="1963712"/>
          </a:xfrm>
        </p:grpSpPr>
        <p:sp>
          <p:nvSpPr>
            <p:cNvPr id="7" name="Freeform 7"/>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4"/>
              <a:stretch>
                <a:fillRect r="-1" b="-1"/>
              </a:stretch>
            </a:blipFill>
          </p:spPr>
          <p:txBody>
            <a:bodyPr/>
            <a:lstStyle/>
            <a:p>
              <a:endParaRPr lang="en-150"/>
            </a:p>
          </p:txBody>
        </p:sp>
      </p:grpSp>
      <p:sp>
        <p:nvSpPr>
          <p:cNvPr id="8" name="Freeform 8"/>
          <p:cNvSpPr/>
          <p:nvPr/>
        </p:nvSpPr>
        <p:spPr>
          <a:xfrm>
            <a:off x="842651" y="678199"/>
            <a:ext cx="16733036" cy="8805760"/>
          </a:xfrm>
          <a:custGeom>
            <a:avLst/>
            <a:gdLst/>
            <a:ahLst/>
            <a:cxnLst/>
            <a:rect l="l" t="t" r="r" b="b"/>
            <a:pathLst>
              <a:path w="16733036" h="8805760">
                <a:moveTo>
                  <a:pt x="0" y="0"/>
                </a:moveTo>
                <a:lnTo>
                  <a:pt x="16733036" y="0"/>
                </a:lnTo>
                <a:lnTo>
                  <a:pt x="16733036" y="8805760"/>
                </a:lnTo>
                <a:lnTo>
                  <a:pt x="0" y="8805760"/>
                </a:lnTo>
                <a:lnTo>
                  <a:pt x="0" y="0"/>
                </a:lnTo>
                <a:close/>
              </a:path>
            </a:pathLst>
          </a:custGeom>
          <a:blipFill>
            <a:blip r:embed="rId5"/>
            <a:stretch>
              <a:fillRect/>
            </a:stretch>
          </a:blipFill>
        </p:spPr>
        <p:txBody>
          <a:bodyPr/>
          <a:lstStyle/>
          <a:p>
            <a:endParaRPr lang="en-150"/>
          </a:p>
        </p:txBody>
      </p:sp>
      <p:sp>
        <p:nvSpPr>
          <p:cNvPr id="9" name="TextBox 9"/>
          <p:cNvSpPr txBox="1"/>
          <p:nvPr/>
        </p:nvSpPr>
        <p:spPr>
          <a:xfrm>
            <a:off x="17160221" y="217808"/>
            <a:ext cx="830932" cy="460391"/>
          </a:xfrm>
          <a:prstGeom prst="rect">
            <a:avLst/>
          </a:prstGeom>
        </p:spPr>
        <p:txBody>
          <a:bodyPr lIns="0" tIns="0" rIns="0" bIns="0" rtlCol="0" anchor="t">
            <a:spAutoFit/>
          </a:bodyPr>
          <a:lstStyle/>
          <a:p>
            <a:pPr algn="r">
              <a:lnSpc>
                <a:spcPts val="2640"/>
              </a:lnSpc>
            </a:pPr>
            <a:r>
              <a:rPr lang="en-US" sz="2200">
                <a:solidFill>
                  <a:srgbClr val="7F7F7F"/>
                </a:solidFill>
                <a:latin typeface="Helvetica"/>
                <a:ea typeface="Helvetica"/>
                <a:cs typeface="Helvetica"/>
                <a:sym typeface="Helvetica"/>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597778" y="2092328"/>
            <a:ext cx="120653" cy="15316200"/>
            <a:chOff x="0" y="0"/>
            <a:chExt cx="160871" cy="20421600"/>
          </a:xfrm>
        </p:grpSpPr>
        <p:sp>
          <p:nvSpPr>
            <p:cNvPr id="3" name="Freeform 3"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txBody>
            <a:bodyPr/>
            <a:lstStyle/>
            <a:p>
              <a:endParaRPr lang="en-150"/>
            </a:p>
          </p:txBody>
        </p:sp>
      </p:grpSp>
      <p:grpSp>
        <p:nvGrpSpPr>
          <p:cNvPr id="4" name="Group 4"/>
          <p:cNvGrpSpPr/>
          <p:nvPr/>
        </p:nvGrpSpPr>
        <p:grpSpPr>
          <a:xfrm rot="5400000">
            <a:off x="7597778" y="2092328"/>
            <a:ext cx="120653" cy="15316200"/>
            <a:chOff x="0" y="0"/>
            <a:chExt cx="160871" cy="20421600"/>
          </a:xfrm>
        </p:grpSpPr>
        <p:sp>
          <p:nvSpPr>
            <p:cNvPr id="5" name="Freeform 5"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txBody>
            <a:bodyPr/>
            <a:lstStyle/>
            <a:p>
              <a:endParaRPr lang="en-150"/>
            </a:p>
          </p:txBody>
        </p:sp>
      </p:grpSp>
      <p:grpSp>
        <p:nvGrpSpPr>
          <p:cNvPr id="6" name="Group 6"/>
          <p:cNvGrpSpPr/>
          <p:nvPr/>
        </p:nvGrpSpPr>
        <p:grpSpPr>
          <a:xfrm>
            <a:off x="15544800" y="8496300"/>
            <a:ext cx="2309184" cy="1472784"/>
            <a:chOff x="0" y="0"/>
            <a:chExt cx="3078912" cy="1963712"/>
          </a:xfrm>
        </p:grpSpPr>
        <p:sp>
          <p:nvSpPr>
            <p:cNvPr id="7" name="Freeform 7"/>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4"/>
              <a:stretch>
                <a:fillRect r="-1" b="-1"/>
              </a:stretch>
            </a:blipFill>
          </p:spPr>
          <p:txBody>
            <a:bodyPr/>
            <a:lstStyle/>
            <a:p>
              <a:endParaRPr lang="en-150"/>
            </a:p>
          </p:txBody>
        </p:sp>
      </p:grpSp>
      <p:grpSp>
        <p:nvGrpSpPr>
          <p:cNvPr id="8" name="Group 8"/>
          <p:cNvGrpSpPr/>
          <p:nvPr/>
        </p:nvGrpSpPr>
        <p:grpSpPr>
          <a:xfrm>
            <a:off x="22452635" y="13105628"/>
            <a:ext cx="559765" cy="554003"/>
            <a:chOff x="0" y="0"/>
            <a:chExt cx="746354" cy="738670"/>
          </a:xfrm>
        </p:grpSpPr>
        <p:sp>
          <p:nvSpPr>
            <p:cNvPr id="9" name="Freeform 9"/>
            <p:cNvSpPr/>
            <p:nvPr/>
          </p:nvSpPr>
          <p:spPr>
            <a:xfrm>
              <a:off x="0" y="0"/>
              <a:ext cx="746355" cy="738664"/>
            </a:xfrm>
            <a:custGeom>
              <a:avLst/>
              <a:gdLst/>
              <a:ahLst/>
              <a:cxnLst/>
              <a:rect l="l" t="t" r="r" b="b"/>
              <a:pathLst>
                <a:path w="746355" h="738664">
                  <a:moveTo>
                    <a:pt x="0" y="0"/>
                  </a:moveTo>
                  <a:lnTo>
                    <a:pt x="746355" y="0"/>
                  </a:lnTo>
                  <a:lnTo>
                    <a:pt x="746355" y="738664"/>
                  </a:lnTo>
                  <a:lnTo>
                    <a:pt x="0" y="738664"/>
                  </a:lnTo>
                  <a:close/>
                </a:path>
              </a:pathLst>
            </a:custGeom>
            <a:blipFill>
              <a:blip r:embed="rId5">
                <a:alphaModFix amt="0"/>
              </a:blip>
              <a:stretch>
                <a:fillRect l="-76982" r="-76982"/>
              </a:stretch>
            </a:blipFill>
          </p:spPr>
          <p:txBody>
            <a:bodyPr/>
            <a:lstStyle/>
            <a:p>
              <a:endParaRPr lang="en-150"/>
            </a:p>
          </p:txBody>
        </p:sp>
        <p:sp>
          <p:nvSpPr>
            <p:cNvPr id="10" name="TextBox 10"/>
            <p:cNvSpPr txBox="1"/>
            <p:nvPr/>
          </p:nvSpPr>
          <p:spPr>
            <a:xfrm>
              <a:off x="0" y="9525"/>
              <a:ext cx="746354" cy="729145"/>
            </a:xfrm>
            <a:prstGeom prst="rect">
              <a:avLst/>
            </a:prstGeom>
          </p:spPr>
          <p:txBody>
            <a:bodyPr lIns="0" tIns="0" rIns="0" bIns="0" rtlCol="0" anchor="ctr"/>
            <a:lstStyle/>
            <a:p>
              <a:pPr algn="r">
                <a:lnSpc>
                  <a:spcPts val="2879"/>
                </a:lnSpc>
              </a:pPr>
              <a:r>
                <a:rPr lang="en-US" sz="2400">
                  <a:solidFill>
                    <a:srgbClr val="888888"/>
                  </a:solidFill>
                  <a:latin typeface="Open Sans Light"/>
                  <a:ea typeface="Open Sans Light"/>
                  <a:cs typeface="Open Sans Light"/>
                  <a:sym typeface="Open Sans Light"/>
                </a:rPr>
                <a:t>‹#›</a:t>
              </a:r>
            </a:p>
          </p:txBody>
        </p:sp>
      </p:grpSp>
      <p:grpSp>
        <p:nvGrpSpPr>
          <p:cNvPr id="11" name="Group 11"/>
          <p:cNvGrpSpPr/>
          <p:nvPr/>
        </p:nvGrpSpPr>
        <p:grpSpPr>
          <a:xfrm>
            <a:off x="22757435" y="13410428"/>
            <a:ext cx="559765" cy="554003"/>
            <a:chOff x="0" y="0"/>
            <a:chExt cx="746354" cy="738670"/>
          </a:xfrm>
        </p:grpSpPr>
        <p:sp>
          <p:nvSpPr>
            <p:cNvPr id="12" name="Freeform 12"/>
            <p:cNvSpPr/>
            <p:nvPr/>
          </p:nvSpPr>
          <p:spPr>
            <a:xfrm>
              <a:off x="0" y="0"/>
              <a:ext cx="746355" cy="738664"/>
            </a:xfrm>
            <a:custGeom>
              <a:avLst/>
              <a:gdLst/>
              <a:ahLst/>
              <a:cxnLst/>
              <a:rect l="l" t="t" r="r" b="b"/>
              <a:pathLst>
                <a:path w="746355" h="738664">
                  <a:moveTo>
                    <a:pt x="0" y="0"/>
                  </a:moveTo>
                  <a:lnTo>
                    <a:pt x="746355" y="0"/>
                  </a:lnTo>
                  <a:lnTo>
                    <a:pt x="746355" y="738664"/>
                  </a:lnTo>
                  <a:lnTo>
                    <a:pt x="0" y="738664"/>
                  </a:lnTo>
                  <a:close/>
                </a:path>
              </a:pathLst>
            </a:custGeom>
            <a:blipFill>
              <a:blip r:embed="rId5">
                <a:alphaModFix amt="0"/>
              </a:blip>
              <a:stretch>
                <a:fillRect l="-76982" r="-76982"/>
              </a:stretch>
            </a:blipFill>
          </p:spPr>
          <p:txBody>
            <a:bodyPr/>
            <a:lstStyle/>
            <a:p>
              <a:endParaRPr lang="en-150"/>
            </a:p>
          </p:txBody>
        </p:sp>
        <p:sp>
          <p:nvSpPr>
            <p:cNvPr id="13" name="TextBox 13"/>
            <p:cNvSpPr txBox="1"/>
            <p:nvPr/>
          </p:nvSpPr>
          <p:spPr>
            <a:xfrm>
              <a:off x="0" y="9525"/>
              <a:ext cx="746354" cy="729145"/>
            </a:xfrm>
            <a:prstGeom prst="rect">
              <a:avLst/>
            </a:prstGeom>
          </p:spPr>
          <p:txBody>
            <a:bodyPr lIns="0" tIns="0" rIns="0" bIns="0" rtlCol="0" anchor="ctr"/>
            <a:lstStyle/>
            <a:p>
              <a:pPr algn="r">
                <a:lnSpc>
                  <a:spcPts val="2879"/>
                </a:lnSpc>
              </a:pPr>
              <a:r>
                <a:rPr lang="en-US" sz="2400">
                  <a:solidFill>
                    <a:srgbClr val="888888"/>
                  </a:solidFill>
                  <a:latin typeface="Open Sans Light"/>
                  <a:ea typeface="Open Sans Light"/>
                  <a:cs typeface="Open Sans Light"/>
                  <a:sym typeface="Open Sans Light"/>
                </a:rPr>
                <a:t>‹#›</a:t>
              </a:r>
            </a:p>
          </p:txBody>
        </p:sp>
      </p:grpSp>
      <p:grpSp>
        <p:nvGrpSpPr>
          <p:cNvPr id="14" name="Group 14"/>
          <p:cNvGrpSpPr/>
          <p:nvPr/>
        </p:nvGrpSpPr>
        <p:grpSpPr>
          <a:xfrm>
            <a:off x="23062235" y="13715228"/>
            <a:ext cx="559765" cy="554003"/>
            <a:chOff x="0" y="0"/>
            <a:chExt cx="746354" cy="738670"/>
          </a:xfrm>
        </p:grpSpPr>
        <p:sp>
          <p:nvSpPr>
            <p:cNvPr id="15" name="Freeform 15"/>
            <p:cNvSpPr/>
            <p:nvPr/>
          </p:nvSpPr>
          <p:spPr>
            <a:xfrm>
              <a:off x="0" y="0"/>
              <a:ext cx="746355" cy="738664"/>
            </a:xfrm>
            <a:custGeom>
              <a:avLst/>
              <a:gdLst/>
              <a:ahLst/>
              <a:cxnLst/>
              <a:rect l="l" t="t" r="r" b="b"/>
              <a:pathLst>
                <a:path w="746355" h="738664">
                  <a:moveTo>
                    <a:pt x="0" y="0"/>
                  </a:moveTo>
                  <a:lnTo>
                    <a:pt x="746355" y="0"/>
                  </a:lnTo>
                  <a:lnTo>
                    <a:pt x="746355" y="738664"/>
                  </a:lnTo>
                  <a:lnTo>
                    <a:pt x="0" y="738664"/>
                  </a:lnTo>
                  <a:close/>
                </a:path>
              </a:pathLst>
            </a:custGeom>
            <a:blipFill>
              <a:blip r:embed="rId5">
                <a:alphaModFix amt="0"/>
              </a:blip>
              <a:stretch>
                <a:fillRect l="-76982" r="-76982"/>
              </a:stretch>
            </a:blipFill>
          </p:spPr>
          <p:txBody>
            <a:bodyPr/>
            <a:lstStyle/>
            <a:p>
              <a:endParaRPr lang="en-150"/>
            </a:p>
          </p:txBody>
        </p:sp>
        <p:sp>
          <p:nvSpPr>
            <p:cNvPr id="16" name="TextBox 16"/>
            <p:cNvSpPr txBox="1"/>
            <p:nvPr/>
          </p:nvSpPr>
          <p:spPr>
            <a:xfrm>
              <a:off x="0" y="9525"/>
              <a:ext cx="746354" cy="729145"/>
            </a:xfrm>
            <a:prstGeom prst="rect">
              <a:avLst/>
            </a:prstGeom>
          </p:spPr>
          <p:txBody>
            <a:bodyPr lIns="0" tIns="0" rIns="0" bIns="0" rtlCol="0" anchor="ctr"/>
            <a:lstStyle/>
            <a:p>
              <a:pPr algn="r">
                <a:lnSpc>
                  <a:spcPts val="2879"/>
                </a:lnSpc>
              </a:pPr>
              <a:r>
                <a:rPr lang="en-US" sz="2400">
                  <a:solidFill>
                    <a:srgbClr val="888888"/>
                  </a:solidFill>
                  <a:latin typeface="Open Sans Light"/>
                  <a:ea typeface="Open Sans Light"/>
                  <a:cs typeface="Open Sans Light"/>
                  <a:sym typeface="Open Sans Light"/>
                </a:rPr>
                <a:t>‹#›</a:t>
              </a:r>
            </a:p>
          </p:txBody>
        </p:sp>
      </p:grpSp>
      <p:sp>
        <p:nvSpPr>
          <p:cNvPr id="17" name="Freeform 17"/>
          <p:cNvSpPr/>
          <p:nvPr/>
        </p:nvSpPr>
        <p:spPr>
          <a:xfrm>
            <a:off x="845958" y="641812"/>
            <a:ext cx="16596083" cy="9003375"/>
          </a:xfrm>
          <a:custGeom>
            <a:avLst/>
            <a:gdLst/>
            <a:ahLst/>
            <a:cxnLst/>
            <a:rect l="l" t="t" r="r" b="b"/>
            <a:pathLst>
              <a:path w="16596083" h="9003375">
                <a:moveTo>
                  <a:pt x="0" y="0"/>
                </a:moveTo>
                <a:lnTo>
                  <a:pt x="16596084" y="0"/>
                </a:lnTo>
                <a:lnTo>
                  <a:pt x="16596084" y="9003376"/>
                </a:lnTo>
                <a:lnTo>
                  <a:pt x="0" y="9003376"/>
                </a:lnTo>
                <a:lnTo>
                  <a:pt x="0" y="0"/>
                </a:lnTo>
                <a:close/>
              </a:path>
            </a:pathLst>
          </a:custGeom>
          <a:blipFill>
            <a:blip r:embed="rId6"/>
            <a:stretch>
              <a:fillRect/>
            </a:stretch>
          </a:blipFill>
        </p:spPr>
        <p:txBody>
          <a:bodyPr/>
          <a:lstStyle/>
          <a:p>
            <a:endParaRPr lang="en-1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823307"/>
            <a:ext cx="17588760" cy="9278071"/>
          </a:xfrm>
          <a:custGeom>
            <a:avLst/>
            <a:gdLst/>
            <a:ahLst/>
            <a:cxnLst/>
            <a:rect l="l" t="t" r="r" b="b"/>
            <a:pathLst>
              <a:path w="17588760" h="9278071">
                <a:moveTo>
                  <a:pt x="0" y="0"/>
                </a:moveTo>
                <a:lnTo>
                  <a:pt x="17588760" y="0"/>
                </a:lnTo>
                <a:lnTo>
                  <a:pt x="17588760" y="9278071"/>
                </a:lnTo>
                <a:lnTo>
                  <a:pt x="0" y="9278071"/>
                </a:lnTo>
                <a:lnTo>
                  <a:pt x="0" y="0"/>
                </a:lnTo>
                <a:close/>
              </a:path>
            </a:pathLst>
          </a:custGeom>
          <a:blipFill>
            <a:blip r:embed="rId3"/>
            <a:stretch>
              <a:fillRect/>
            </a:stretch>
          </a:blipFill>
        </p:spPr>
        <p:txBody>
          <a:bodyPr/>
          <a:lstStyle/>
          <a:p>
            <a:endParaRPr lang="en-1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597778" y="2092328"/>
            <a:ext cx="120653" cy="15316200"/>
            <a:chOff x="0" y="0"/>
            <a:chExt cx="160871" cy="20421600"/>
          </a:xfrm>
        </p:grpSpPr>
        <p:sp>
          <p:nvSpPr>
            <p:cNvPr id="3" name="Freeform 3"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txBody>
            <a:bodyPr/>
            <a:lstStyle/>
            <a:p>
              <a:endParaRPr lang="en-150"/>
            </a:p>
          </p:txBody>
        </p:sp>
      </p:grpSp>
      <p:grpSp>
        <p:nvGrpSpPr>
          <p:cNvPr id="4" name="Group 4"/>
          <p:cNvGrpSpPr/>
          <p:nvPr/>
        </p:nvGrpSpPr>
        <p:grpSpPr>
          <a:xfrm rot="5400000">
            <a:off x="7597778" y="2092328"/>
            <a:ext cx="120653" cy="15316200"/>
            <a:chOff x="0" y="0"/>
            <a:chExt cx="160871" cy="20421600"/>
          </a:xfrm>
        </p:grpSpPr>
        <p:sp>
          <p:nvSpPr>
            <p:cNvPr id="5" name="Freeform 5"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txBody>
            <a:bodyPr/>
            <a:lstStyle/>
            <a:p>
              <a:endParaRPr lang="en-150"/>
            </a:p>
          </p:txBody>
        </p:sp>
      </p:grpSp>
      <p:grpSp>
        <p:nvGrpSpPr>
          <p:cNvPr id="6" name="Group 6"/>
          <p:cNvGrpSpPr/>
          <p:nvPr/>
        </p:nvGrpSpPr>
        <p:grpSpPr>
          <a:xfrm>
            <a:off x="15544800" y="8496300"/>
            <a:ext cx="2309184" cy="1472784"/>
            <a:chOff x="0" y="0"/>
            <a:chExt cx="3078912" cy="1963712"/>
          </a:xfrm>
        </p:grpSpPr>
        <p:sp>
          <p:nvSpPr>
            <p:cNvPr id="7" name="Freeform 7"/>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4"/>
              <a:stretch>
                <a:fillRect r="-1" b="-1"/>
              </a:stretch>
            </a:blipFill>
          </p:spPr>
          <p:txBody>
            <a:bodyPr/>
            <a:lstStyle/>
            <a:p>
              <a:endParaRPr lang="en-150"/>
            </a:p>
          </p:txBody>
        </p:sp>
      </p:grpSp>
      <p:sp>
        <p:nvSpPr>
          <p:cNvPr id="8" name="Freeform 8"/>
          <p:cNvSpPr/>
          <p:nvPr/>
        </p:nvSpPr>
        <p:spPr>
          <a:xfrm>
            <a:off x="1028700" y="678199"/>
            <a:ext cx="3016521" cy="573388"/>
          </a:xfrm>
          <a:custGeom>
            <a:avLst/>
            <a:gdLst/>
            <a:ahLst/>
            <a:cxnLst/>
            <a:rect l="l" t="t" r="r" b="b"/>
            <a:pathLst>
              <a:path w="3016521" h="573388">
                <a:moveTo>
                  <a:pt x="0" y="0"/>
                </a:moveTo>
                <a:lnTo>
                  <a:pt x="3016521" y="0"/>
                </a:lnTo>
                <a:lnTo>
                  <a:pt x="3016521" y="573388"/>
                </a:lnTo>
                <a:lnTo>
                  <a:pt x="0" y="573388"/>
                </a:lnTo>
                <a:lnTo>
                  <a:pt x="0" y="0"/>
                </a:lnTo>
                <a:close/>
              </a:path>
            </a:pathLst>
          </a:custGeom>
          <a:blipFill>
            <a:blip r:embed="rId5"/>
            <a:stretch>
              <a:fillRect/>
            </a:stretch>
          </a:blipFill>
        </p:spPr>
        <p:txBody>
          <a:bodyPr/>
          <a:lstStyle/>
          <a:p>
            <a:endParaRPr lang="en-150"/>
          </a:p>
        </p:txBody>
      </p:sp>
      <p:sp>
        <p:nvSpPr>
          <p:cNvPr id="9" name="Freeform 9"/>
          <p:cNvSpPr/>
          <p:nvPr/>
        </p:nvSpPr>
        <p:spPr>
          <a:xfrm>
            <a:off x="-4882706" y="-2145763"/>
            <a:ext cx="26029916" cy="11590315"/>
          </a:xfrm>
          <a:custGeom>
            <a:avLst/>
            <a:gdLst/>
            <a:ahLst/>
            <a:cxnLst/>
            <a:rect l="l" t="t" r="r" b="b"/>
            <a:pathLst>
              <a:path w="26029916" h="11590315">
                <a:moveTo>
                  <a:pt x="0" y="0"/>
                </a:moveTo>
                <a:lnTo>
                  <a:pt x="26029916" y="0"/>
                </a:lnTo>
                <a:lnTo>
                  <a:pt x="26029916" y="11590315"/>
                </a:lnTo>
                <a:lnTo>
                  <a:pt x="0" y="1159031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1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597778" y="2092328"/>
            <a:ext cx="120653" cy="15316200"/>
            <a:chOff x="0" y="0"/>
            <a:chExt cx="160871" cy="20421600"/>
          </a:xfrm>
        </p:grpSpPr>
        <p:sp>
          <p:nvSpPr>
            <p:cNvPr id="3" name="Freeform 3"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txBody>
            <a:bodyPr/>
            <a:lstStyle/>
            <a:p>
              <a:endParaRPr lang="en-150"/>
            </a:p>
          </p:txBody>
        </p:sp>
      </p:grpSp>
      <p:grpSp>
        <p:nvGrpSpPr>
          <p:cNvPr id="4" name="Group 4"/>
          <p:cNvGrpSpPr/>
          <p:nvPr/>
        </p:nvGrpSpPr>
        <p:grpSpPr>
          <a:xfrm rot="5400000">
            <a:off x="7597778" y="2092328"/>
            <a:ext cx="120653" cy="15316200"/>
            <a:chOff x="0" y="0"/>
            <a:chExt cx="160871" cy="20421600"/>
          </a:xfrm>
        </p:grpSpPr>
        <p:sp>
          <p:nvSpPr>
            <p:cNvPr id="5" name="Freeform 5"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txBody>
            <a:bodyPr/>
            <a:lstStyle/>
            <a:p>
              <a:endParaRPr lang="en-150"/>
            </a:p>
          </p:txBody>
        </p:sp>
      </p:grpSp>
      <p:grpSp>
        <p:nvGrpSpPr>
          <p:cNvPr id="6" name="Group 6"/>
          <p:cNvGrpSpPr/>
          <p:nvPr/>
        </p:nvGrpSpPr>
        <p:grpSpPr>
          <a:xfrm>
            <a:off x="15544800" y="8496300"/>
            <a:ext cx="2309184" cy="1472784"/>
            <a:chOff x="0" y="0"/>
            <a:chExt cx="3078912" cy="1963712"/>
          </a:xfrm>
        </p:grpSpPr>
        <p:sp>
          <p:nvSpPr>
            <p:cNvPr id="7" name="Freeform 7"/>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4"/>
              <a:stretch>
                <a:fillRect r="-1" b="-1"/>
              </a:stretch>
            </a:blipFill>
          </p:spPr>
          <p:txBody>
            <a:bodyPr/>
            <a:lstStyle/>
            <a:p>
              <a:endParaRPr lang="en-150"/>
            </a:p>
          </p:txBody>
        </p:sp>
      </p:grpSp>
      <p:grpSp>
        <p:nvGrpSpPr>
          <p:cNvPr id="27" name="Group 26">
            <a:extLst>
              <a:ext uri="{FF2B5EF4-FFF2-40B4-BE49-F238E27FC236}">
                <a16:creationId xmlns:a16="http://schemas.microsoft.com/office/drawing/2014/main" id="{B4CD3A1E-452B-451A-1D19-239AF73611A4}"/>
              </a:ext>
            </a:extLst>
          </p:cNvPr>
          <p:cNvGrpSpPr/>
          <p:nvPr/>
        </p:nvGrpSpPr>
        <p:grpSpPr>
          <a:xfrm>
            <a:off x="914400" y="876300"/>
            <a:ext cx="17168141" cy="7924800"/>
            <a:chOff x="411480" y="256032"/>
            <a:chExt cx="9464040" cy="4887468"/>
          </a:xfrm>
        </p:grpSpPr>
        <p:sp>
          <p:nvSpPr>
            <p:cNvPr id="28" name="Shape 0">
              <a:extLst>
                <a:ext uri="{FF2B5EF4-FFF2-40B4-BE49-F238E27FC236}">
                  <a16:creationId xmlns:a16="http://schemas.microsoft.com/office/drawing/2014/main" id="{CC88A7C4-7955-4AE2-EC9E-E7A94BDE3BDE}"/>
                </a:ext>
              </a:extLst>
            </p:cNvPr>
            <p:cNvSpPr/>
            <p:nvPr/>
          </p:nvSpPr>
          <p:spPr>
            <a:xfrm>
              <a:off x="411480" y="256032"/>
              <a:ext cx="1463040" cy="256032"/>
            </a:xfrm>
            <a:prstGeom prst="rect">
              <a:avLst/>
            </a:prstGeom>
            <a:solidFill>
              <a:srgbClr val="C41230"/>
            </a:solidFill>
            <a:ln w="12700">
              <a:solidFill>
                <a:srgbClr val="C41230"/>
              </a:solidFill>
              <a:prstDash val="solid"/>
            </a:ln>
          </p:spPr>
          <p:txBody>
            <a:bodyPr/>
            <a:lstStyle/>
            <a:p>
              <a:endParaRPr lang="en-150"/>
            </a:p>
          </p:txBody>
        </p:sp>
        <p:sp>
          <p:nvSpPr>
            <p:cNvPr id="29" name="Text 1">
              <a:extLst>
                <a:ext uri="{FF2B5EF4-FFF2-40B4-BE49-F238E27FC236}">
                  <a16:creationId xmlns:a16="http://schemas.microsoft.com/office/drawing/2014/main" id="{5F89AE36-52CA-0D7D-E6BE-B0AFD9083CD6}"/>
                </a:ext>
              </a:extLst>
            </p:cNvPr>
            <p:cNvSpPr/>
            <p:nvPr/>
          </p:nvSpPr>
          <p:spPr>
            <a:xfrm>
              <a:off x="411480" y="256032"/>
              <a:ext cx="1463040" cy="256032"/>
            </a:xfrm>
            <a:prstGeom prst="rect">
              <a:avLst/>
            </a:prstGeom>
            <a:noFill/>
            <a:ln/>
          </p:spPr>
          <p:txBody>
            <a:bodyPr wrap="square" rtlCol="0" anchor="ctr"/>
            <a:lstStyle/>
            <a:p>
              <a:pPr marL="0" indent="0" algn="ctr">
                <a:buNone/>
              </a:pPr>
              <a:r>
                <a:rPr lang="en-US" sz="900" b="1" kern="0" spc="100" dirty="0">
                  <a:solidFill>
                    <a:srgbClr val="FFFFFF"/>
                  </a:solidFill>
                </a:rPr>
                <a:t>RESULTS</a:t>
              </a:r>
              <a:endParaRPr lang="en-US" sz="900" dirty="0"/>
            </a:p>
          </p:txBody>
        </p:sp>
        <p:sp>
          <p:nvSpPr>
            <p:cNvPr id="30" name="Text 2">
              <a:extLst>
                <a:ext uri="{FF2B5EF4-FFF2-40B4-BE49-F238E27FC236}">
                  <a16:creationId xmlns:a16="http://schemas.microsoft.com/office/drawing/2014/main" id="{4955E55D-466C-A775-2054-B418E20B7533}"/>
                </a:ext>
              </a:extLst>
            </p:cNvPr>
            <p:cNvSpPr/>
            <p:nvPr/>
          </p:nvSpPr>
          <p:spPr>
            <a:xfrm>
              <a:off x="411480" y="594360"/>
              <a:ext cx="8321040" cy="50292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Quantitative Comparison</a:t>
              </a:r>
              <a:endParaRPr lang="en-US" sz="2600" dirty="0"/>
            </a:p>
          </p:txBody>
        </p:sp>
        <p:graphicFrame>
          <p:nvGraphicFramePr>
            <p:cNvPr id="31" name="Chart 0">
              <a:extLst>
                <a:ext uri="{FF2B5EF4-FFF2-40B4-BE49-F238E27FC236}">
                  <a16:creationId xmlns:a16="http://schemas.microsoft.com/office/drawing/2014/main" id="{46D2CD57-1EC7-7FB0-4DED-6FE93C65D23C}"/>
                </a:ext>
              </a:extLst>
            </p:cNvPr>
            <p:cNvGraphicFramePr/>
            <p:nvPr>
              <p:extLst>
                <p:ext uri="{D42A27DB-BD31-4B8C-83A1-F6EECF244321}">
                  <p14:modId xmlns:p14="http://schemas.microsoft.com/office/powerpoint/2010/main" val="1818547821"/>
                </p:ext>
              </p:extLst>
            </p:nvPr>
          </p:nvGraphicFramePr>
          <p:xfrm>
            <a:off x="4114800" y="1051560"/>
            <a:ext cx="4572000" cy="3383280"/>
          </p:xfrm>
          <a:graphic>
            <a:graphicData uri="http://schemas.openxmlformats.org/drawingml/2006/chart">
              <c:chart xmlns:c="http://schemas.openxmlformats.org/drawingml/2006/chart" xmlns:r="http://schemas.openxmlformats.org/officeDocument/2006/relationships" r:id="rId5"/>
            </a:graphicData>
          </a:graphic>
        </p:graphicFrame>
        <p:sp>
          <p:nvSpPr>
            <p:cNvPr id="32" name="Shape 3">
              <a:extLst>
                <a:ext uri="{FF2B5EF4-FFF2-40B4-BE49-F238E27FC236}">
                  <a16:creationId xmlns:a16="http://schemas.microsoft.com/office/drawing/2014/main" id="{62C5DA0B-C558-CE80-EEE7-A0D868B46919}"/>
                </a:ext>
              </a:extLst>
            </p:cNvPr>
            <p:cNvSpPr/>
            <p:nvPr/>
          </p:nvSpPr>
          <p:spPr>
            <a:xfrm>
              <a:off x="411480" y="1097280"/>
              <a:ext cx="3291840" cy="713232"/>
            </a:xfrm>
            <a:prstGeom prst="rect">
              <a:avLst/>
            </a:prstGeom>
            <a:solidFill>
              <a:srgbClr val="F7F7F7"/>
            </a:solidFill>
            <a:ln w="12700">
              <a:solidFill>
                <a:srgbClr val="E2E2E2"/>
              </a:solidFill>
              <a:prstDash val="solid"/>
            </a:ln>
          </p:spPr>
          <p:txBody>
            <a:bodyPr/>
            <a:lstStyle/>
            <a:p>
              <a:endParaRPr lang="en-150"/>
            </a:p>
          </p:txBody>
        </p:sp>
        <p:sp>
          <p:nvSpPr>
            <p:cNvPr id="33" name="Text 5">
              <a:extLst>
                <a:ext uri="{FF2B5EF4-FFF2-40B4-BE49-F238E27FC236}">
                  <a16:creationId xmlns:a16="http://schemas.microsoft.com/office/drawing/2014/main" id="{D0CDCDE7-F24E-B14F-29F4-21829D6B7A36}"/>
                </a:ext>
              </a:extLst>
            </p:cNvPr>
            <p:cNvSpPr/>
            <p:nvPr/>
          </p:nvSpPr>
          <p:spPr>
            <a:xfrm>
              <a:off x="594360" y="1133856"/>
              <a:ext cx="3017520" cy="347472"/>
            </a:xfrm>
            <a:prstGeom prst="rect">
              <a:avLst/>
            </a:prstGeom>
            <a:noFill/>
            <a:ln/>
          </p:spPr>
          <p:txBody>
            <a:bodyPr wrap="square" rtlCol="0" anchor="ctr"/>
            <a:lstStyle/>
            <a:p>
              <a:pPr marL="0" indent="0">
                <a:buNone/>
              </a:pPr>
              <a:r>
                <a:rPr lang="en-US" sz="2200" b="1" dirty="0">
                  <a:solidFill>
                    <a:srgbClr val="0F6E56"/>
                  </a:solidFill>
                </a:rPr>
                <a:t>4 of 5</a:t>
              </a:r>
              <a:endParaRPr lang="en-US" sz="2200" dirty="0"/>
            </a:p>
          </p:txBody>
        </p:sp>
        <p:sp>
          <p:nvSpPr>
            <p:cNvPr id="34" name="Text 6">
              <a:extLst>
                <a:ext uri="{FF2B5EF4-FFF2-40B4-BE49-F238E27FC236}">
                  <a16:creationId xmlns:a16="http://schemas.microsoft.com/office/drawing/2014/main" id="{5547C167-629E-1B30-17DA-ACA0B8492C35}"/>
                </a:ext>
              </a:extLst>
            </p:cNvPr>
            <p:cNvSpPr/>
            <p:nvPr/>
          </p:nvSpPr>
          <p:spPr>
            <a:xfrm>
              <a:off x="594360" y="1481328"/>
              <a:ext cx="3017520" cy="274320"/>
            </a:xfrm>
            <a:prstGeom prst="rect">
              <a:avLst/>
            </a:prstGeom>
            <a:noFill/>
            <a:ln/>
          </p:spPr>
          <p:txBody>
            <a:bodyPr wrap="square" rtlCol="0" anchor="ctr"/>
            <a:lstStyle/>
            <a:p>
              <a:pPr marL="0" indent="0">
                <a:buNone/>
              </a:pPr>
              <a:r>
                <a:rPr lang="en-US" sz="1100" dirty="0">
                  <a:solidFill>
                    <a:srgbClr val="5A5A6A"/>
                  </a:solidFill>
                </a:rPr>
                <a:t>metrics beat baseline</a:t>
              </a:r>
              <a:endParaRPr lang="en-US" sz="1100" dirty="0"/>
            </a:p>
          </p:txBody>
        </p:sp>
        <p:sp>
          <p:nvSpPr>
            <p:cNvPr id="35" name="Shape 7">
              <a:extLst>
                <a:ext uri="{FF2B5EF4-FFF2-40B4-BE49-F238E27FC236}">
                  <a16:creationId xmlns:a16="http://schemas.microsoft.com/office/drawing/2014/main" id="{B47930CD-27EB-C810-C6FB-A4FF4068D7E4}"/>
                </a:ext>
              </a:extLst>
            </p:cNvPr>
            <p:cNvSpPr/>
            <p:nvPr/>
          </p:nvSpPr>
          <p:spPr>
            <a:xfrm>
              <a:off x="411480" y="1938528"/>
              <a:ext cx="3291840" cy="713232"/>
            </a:xfrm>
            <a:prstGeom prst="rect">
              <a:avLst/>
            </a:prstGeom>
            <a:solidFill>
              <a:srgbClr val="F7F7F7"/>
            </a:solidFill>
            <a:ln w="12700">
              <a:solidFill>
                <a:srgbClr val="E2E2E2"/>
              </a:solidFill>
              <a:prstDash val="solid"/>
            </a:ln>
          </p:spPr>
          <p:txBody>
            <a:bodyPr/>
            <a:lstStyle/>
            <a:p>
              <a:endParaRPr lang="en-150"/>
            </a:p>
          </p:txBody>
        </p:sp>
        <p:sp>
          <p:nvSpPr>
            <p:cNvPr id="36" name="Text 9">
              <a:extLst>
                <a:ext uri="{FF2B5EF4-FFF2-40B4-BE49-F238E27FC236}">
                  <a16:creationId xmlns:a16="http://schemas.microsoft.com/office/drawing/2014/main" id="{1FD79850-057A-9033-B6FD-3F6F5B10960F}"/>
                </a:ext>
              </a:extLst>
            </p:cNvPr>
            <p:cNvSpPr/>
            <p:nvPr/>
          </p:nvSpPr>
          <p:spPr>
            <a:xfrm>
              <a:off x="594360" y="1975104"/>
              <a:ext cx="3017520" cy="347472"/>
            </a:xfrm>
            <a:prstGeom prst="rect">
              <a:avLst/>
            </a:prstGeom>
            <a:noFill/>
            <a:ln/>
          </p:spPr>
          <p:txBody>
            <a:bodyPr wrap="square" rtlCol="0" anchor="ctr"/>
            <a:lstStyle/>
            <a:p>
              <a:pPr marL="0" indent="0">
                <a:buNone/>
              </a:pPr>
              <a:r>
                <a:rPr lang="en-US" sz="2200" b="1" dirty="0">
                  <a:solidFill>
                    <a:srgbClr val="C41230"/>
                  </a:solidFill>
                </a:rPr>
                <a:t>+2.80pp</a:t>
              </a:r>
              <a:endParaRPr lang="en-US" sz="2200" dirty="0"/>
            </a:p>
          </p:txBody>
        </p:sp>
        <p:sp>
          <p:nvSpPr>
            <p:cNvPr id="37" name="Text 10">
              <a:extLst>
                <a:ext uri="{FF2B5EF4-FFF2-40B4-BE49-F238E27FC236}">
                  <a16:creationId xmlns:a16="http://schemas.microsoft.com/office/drawing/2014/main" id="{57299A30-1D50-09D3-4421-68CE1B3A1CC2}"/>
                </a:ext>
              </a:extLst>
            </p:cNvPr>
            <p:cNvSpPr/>
            <p:nvPr/>
          </p:nvSpPr>
          <p:spPr>
            <a:xfrm>
              <a:off x="594360" y="2322576"/>
              <a:ext cx="3017520" cy="274320"/>
            </a:xfrm>
            <a:prstGeom prst="rect">
              <a:avLst/>
            </a:prstGeom>
            <a:noFill/>
            <a:ln/>
          </p:spPr>
          <p:txBody>
            <a:bodyPr wrap="square" rtlCol="0" anchor="ctr"/>
            <a:lstStyle/>
            <a:p>
              <a:pPr marL="0" indent="0">
                <a:buNone/>
              </a:pPr>
              <a:r>
                <a:rPr lang="en-US" sz="1100" dirty="0">
                  <a:solidFill>
                    <a:srgbClr val="5A5A6A"/>
                  </a:solidFill>
                </a:rPr>
                <a:t>precision improvement</a:t>
              </a:r>
              <a:endParaRPr lang="en-US" sz="1100" dirty="0"/>
            </a:p>
          </p:txBody>
        </p:sp>
        <p:sp>
          <p:nvSpPr>
            <p:cNvPr id="38" name="Shape 11">
              <a:extLst>
                <a:ext uri="{FF2B5EF4-FFF2-40B4-BE49-F238E27FC236}">
                  <a16:creationId xmlns:a16="http://schemas.microsoft.com/office/drawing/2014/main" id="{6B664528-301C-47B8-BEC9-A4A299BB1522}"/>
                </a:ext>
              </a:extLst>
            </p:cNvPr>
            <p:cNvSpPr/>
            <p:nvPr/>
          </p:nvSpPr>
          <p:spPr>
            <a:xfrm>
              <a:off x="411480" y="2779776"/>
              <a:ext cx="3291840" cy="713232"/>
            </a:xfrm>
            <a:prstGeom prst="rect">
              <a:avLst/>
            </a:prstGeom>
            <a:solidFill>
              <a:srgbClr val="F7F7F7"/>
            </a:solidFill>
            <a:ln w="12700">
              <a:solidFill>
                <a:srgbClr val="E2E2E2"/>
              </a:solidFill>
              <a:prstDash val="solid"/>
            </a:ln>
          </p:spPr>
          <p:txBody>
            <a:bodyPr/>
            <a:lstStyle/>
            <a:p>
              <a:endParaRPr lang="en-150"/>
            </a:p>
          </p:txBody>
        </p:sp>
        <p:sp>
          <p:nvSpPr>
            <p:cNvPr id="39" name="Text 13">
              <a:extLst>
                <a:ext uri="{FF2B5EF4-FFF2-40B4-BE49-F238E27FC236}">
                  <a16:creationId xmlns:a16="http://schemas.microsoft.com/office/drawing/2014/main" id="{80034994-18D5-33A6-7A60-5CCEAADD7186}"/>
                </a:ext>
              </a:extLst>
            </p:cNvPr>
            <p:cNvSpPr/>
            <p:nvPr/>
          </p:nvSpPr>
          <p:spPr>
            <a:xfrm>
              <a:off x="594360" y="2816352"/>
              <a:ext cx="3017520" cy="347472"/>
            </a:xfrm>
            <a:prstGeom prst="rect">
              <a:avLst/>
            </a:prstGeom>
            <a:noFill/>
            <a:ln/>
          </p:spPr>
          <p:txBody>
            <a:bodyPr wrap="square" rtlCol="0" anchor="ctr"/>
            <a:lstStyle/>
            <a:p>
              <a:pPr marL="0" indent="0">
                <a:buNone/>
              </a:pPr>
              <a:r>
                <a:rPr lang="en-US" sz="2200" b="1" dirty="0">
                  <a:solidFill>
                    <a:srgbClr val="C41230"/>
                  </a:solidFill>
                </a:rPr>
                <a:t>+1.97pp</a:t>
              </a:r>
              <a:endParaRPr lang="en-US" sz="2200" dirty="0"/>
            </a:p>
          </p:txBody>
        </p:sp>
        <p:sp>
          <p:nvSpPr>
            <p:cNvPr id="40" name="Text 14">
              <a:extLst>
                <a:ext uri="{FF2B5EF4-FFF2-40B4-BE49-F238E27FC236}">
                  <a16:creationId xmlns:a16="http://schemas.microsoft.com/office/drawing/2014/main" id="{0E692E0F-F510-7E09-93FC-C7DABB5375BD}"/>
                </a:ext>
              </a:extLst>
            </p:cNvPr>
            <p:cNvSpPr/>
            <p:nvPr/>
          </p:nvSpPr>
          <p:spPr>
            <a:xfrm>
              <a:off x="594360" y="3163824"/>
              <a:ext cx="3017520" cy="274320"/>
            </a:xfrm>
            <a:prstGeom prst="rect">
              <a:avLst/>
            </a:prstGeom>
            <a:noFill/>
            <a:ln/>
          </p:spPr>
          <p:txBody>
            <a:bodyPr wrap="square" rtlCol="0" anchor="ctr"/>
            <a:lstStyle/>
            <a:p>
              <a:pPr marL="0" indent="0">
                <a:buNone/>
              </a:pPr>
              <a:r>
                <a:rPr lang="en-US" sz="1100" dirty="0">
                  <a:solidFill>
                    <a:srgbClr val="5A5A6A"/>
                  </a:solidFill>
                </a:rPr>
                <a:t>F1 improvement</a:t>
              </a:r>
              <a:endParaRPr lang="en-US" sz="1100" dirty="0"/>
            </a:p>
          </p:txBody>
        </p:sp>
        <p:sp>
          <p:nvSpPr>
            <p:cNvPr id="41" name="Shape 15">
              <a:extLst>
                <a:ext uri="{FF2B5EF4-FFF2-40B4-BE49-F238E27FC236}">
                  <a16:creationId xmlns:a16="http://schemas.microsoft.com/office/drawing/2014/main" id="{F2B5E255-4003-ECB9-5DBB-201105D68FAE}"/>
                </a:ext>
              </a:extLst>
            </p:cNvPr>
            <p:cNvSpPr/>
            <p:nvPr/>
          </p:nvSpPr>
          <p:spPr>
            <a:xfrm>
              <a:off x="411480" y="3621024"/>
              <a:ext cx="3291840" cy="713232"/>
            </a:xfrm>
            <a:prstGeom prst="rect">
              <a:avLst/>
            </a:prstGeom>
            <a:solidFill>
              <a:srgbClr val="F7F7F7"/>
            </a:solidFill>
            <a:ln w="12700">
              <a:solidFill>
                <a:srgbClr val="E2E2E2"/>
              </a:solidFill>
              <a:prstDash val="solid"/>
            </a:ln>
          </p:spPr>
          <p:txBody>
            <a:bodyPr/>
            <a:lstStyle/>
            <a:p>
              <a:endParaRPr lang="en-150" dirty="0"/>
            </a:p>
          </p:txBody>
        </p:sp>
        <p:sp>
          <p:nvSpPr>
            <p:cNvPr id="42" name="Text 17">
              <a:extLst>
                <a:ext uri="{FF2B5EF4-FFF2-40B4-BE49-F238E27FC236}">
                  <a16:creationId xmlns:a16="http://schemas.microsoft.com/office/drawing/2014/main" id="{663CAD57-4E5A-2B7D-6D60-567E950241AF}"/>
                </a:ext>
              </a:extLst>
            </p:cNvPr>
            <p:cNvSpPr/>
            <p:nvPr/>
          </p:nvSpPr>
          <p:spPr>
            <a:xfrm>
              <a:off x="594360" y="3657600"/>
              <a:ext cx="3017520" cy="347472"/>
            </a:xfrm>
            <a:prstGeom prst="rect">
              <a:avLst/>
            </a:prstGeom>
            <a:noFill/>
            <a:ln/>
          </p:spPr>
          <p:txBody>
            <a:bodyPr wrap="square" rtlCol="0" anchor="ctr"/>
            <a:lstStyle/>
            <a:p>
              <a:pPr marL="0" indent="0">
                <a:buNone/>
              </a:pPr>
              <a:r>
                <a:rPr lang="en-US" sz="2200" b="1" dirty="0">
                  <a:solidFill>
                    <a:srgbClr val="1A1A2E"/>
                  </a:solidFill>
                </a:rPr>
                <a:t>3 FN</a:t>
              </a:r>
              <a:endParaRPr lang="en-US" sz="2200" dirty="0"/>
            </a:p>
          </p:txBody>
        </p:sp>
        <p:sp>
          <p:nvSpPr>
            <p:cNvPr id="43" name="Text 20">
              <a:extLst>
                <a:ext uri="{FF2B5EF4-FFF2-40B4-BE49-F238E27FC236}">
                  <a16:creationId xmlns:a16="http://schemas.microsoft.com/office/drawing/2014/main" id="{25EC1F15-66AB-93E5-B005-122E2E6F60C4}"/>
                </a:ext>
              </a:extLst>
            </p:cNvPr>
            <p:cNvSpPr/>
            <p:nvPr/>
          </p:nvSpPr>
          <p:spPr>
            <a:xfrm>
              <a:off x="3474720" y="4892040"/>
              <a:ext cx="6400800" cy="251460"/>
            </a:xfrm>
            <a:prstGeom prst="rect">
              <a:avLst/>
            </a:prstGeom>
            <a:noFill/>
            <a:ln/>
          </p:spPr>
          <p:txBody>
            <a:bodyPr wrap="square" rtlCol="0" anchor="ctr"/>
            <a:lstStyle/>
            <a:p>
              <a:pPr marL="0" indent="0">
                <a:buNone/>
              </a:pPr>
              <a:r>
                <a:rPr lang="en-US" sz="900" dirty="0">
                  <a:solidFill>
                    <a:srgbClr val="AAAAAA"/>
                  </a:solidFill>
                </a:rPr>
                <a:t>Adetoro Damilola | Adeniji Samuel  ·  Carnegie Mellon University</a:t>
              </a:r>
              <a:endParaRPr lang="en-US" sz="900" dirty="0"/>
            </a:p>
          </p:txBody>
        </p:sp>
        <p:sp>
          <p:nvSpPr>
            <p:cNvPr id="44" name="Shape 15">
              <a:extLst>
                <a:ext uri="{FF2B5EF4-FFF2-40B4-BE49-F238E27FC236}">
                  <a16:creationId xmlns:a16="http://schemas.microsoft.com/office/drawing/2014/main" id="{19AB8698-F7F4-AFE0-B4B4-D0B98E06DAA6}"/>
                </a:ext>
              </a:extLst>
            </p:cNvPr>
            <p:cNvSpPr/>
            <p:nvPr/>
          </p:nvSpPr>
          <p:spPr>
            <a:xfrm>
              <a:off x="2399143" y="4531922"/>
              <a:ext cx="4160520" cy="263035"/>
            </a:xfrm>
            <a:prstGeom prst="rect">
              <a:avLst/>
            </a:prstGeom>
            <a:solidFill>
              <a:schemeClr val="accent3">
                <a:lumMod val="20000"/>
                <a:lumOff val="80000"/>
              </a:schemeClr>
            </a:solidFill>
            <a:ln w="12700">
              <a:solidFill>
                <a:srgbClr val="F0C040"/>
              </a:solidFill>
              <a:prstDash val="solid"/>
            </a:ln>
          </p:spPr>
          <p:txBody>
            <a:bodyPr/>
            <a:lstStyle/>
            <a:p>
              <a:pPr algn="ctr"/>
              <a:r>
                <a:rPr lang="en-US" sz="1200" dirty="0"/>
                <a:t>Sensitivity/Recall 0.970, Specificity: 0.966</a:t>
              </a:r>
              <a:endParaRPr lang="en-150" sz="1200" dirty="0"/>
            </a:p>
          </p:txBody>
        </p:sp>
        <p:sp>
          <p:nvSpPr>
            <p:cNvPr id="45" name="Text 14">
              <a:extLst>
                <a:ext uri="{FF2B5EF4-FFF2-40B4-BE49-F238E27FC236}">
                  <a16:creationId xmlns:a16="http://schemas.microsoft.com/office/drawing/2014/main" id="{DF8B7392-2BFB-063D-A09E-5E9C42D12352}"/>
                </a:ext>
              </a:extLst>
            </p:cNvPr>
            <p:cNvSpPr/>
            <p:nvPr/>
          </p:nvSpPr>
          <p:spPr>
            <a:xfrm>
              <a:off x="548640" y="3974794"/>
              <a:ext cx="3017520" cy="274320"/>
            </a:xfrm>
            <a:prstGeom prst="rect">
              <a:avLst/>
            </a:prstGeom>
            <a:noFill/>
            <a:ln/>
          </p:spPr>
          <p:txBody>
            <a:bodyPr wrap="square" rtlCol="0" anchor="ctr"/>
            <a:lstStyle/>
            <a:p>
              <a:pPr marL="0" indent="0">
                <a:buNone/>
              </a:pPr>
              <a:r>
                <a:rPr lang="en-US" sz="1100" dirty="0">
                  <a:solidFill>
                    <a:srgbClr val="5A5A6A"/>
                  </a:solidFill>
                </a:rPr>
                <a:t>40% decrease in recall</a:t>
              </a:r>
              <a:endParaRPr lang="en-US" sz="1100"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597778" y="2092328"/>
            <a:ext cx="120653" cy="15316200"/>
            <a:chOff x="0" y="0"/>
            <a:chExt cx="160871" cy="20421600"/>
          </a:xfrm>
        </p:grpSpPr>
        <p:sp>
          <p:nvSpPr>
            <p:cNvPr id="3" name="Freeform 3"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txBody>
            <a:bodyPr/>
            <a:lstStyle/>
            <a:p>
              <a:endParaRPr lang="en-150"/>
            </a:p>
          </p:txBody>
        </p:sp>
      </p:grpSp>
      <p:grpSp>
        <p:nvGrpSpPr>
          <p:cNvPr id="4" name="Group 4"/>
          <p:cNvGrpSpPr/>
          <p:nvPr/>
        </p:nvGrpSpPr>
        <p:grpSpPr>
          <a:xfrm rot="5400000">
            <a:off x="7597778" y="2092328"/>
            <a:ext cx="120653" cy="15316200"/>
            <a:chOff x="0" y="0"/>
            <a:chExt cx="160871" cy="20421600"/>
          </a:xfrm>
        </p:grpSpPr>
        <p:sp>
          <p:nvSpPr>
            <p:cNvPr id="5" name="Freeform 5"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txBody>
            <a:bodyPr/>
            <a:lstStyle/>
            <a:p>
              <a:endParaRPr lang="en-150"/>
            </a:p>
          </p:txBody>
        </p:sp>
      </p:grpSp>
      <p:grpSp>
        <p:nvGrpSpPr>
          <p:cNvPr id="6" name="Group 6"/>
          <p:cNvGrpSpPr/>
          <p:nvPr/>
        </p:nvGrpSpPr>
        <p:grpSpPr>
          <a:xfrm>
            <a:off x="15544800" y="8496300"/>
            <a:ext cx="2309184" cy="1472784"/>
            <a:chOff x="0" y="0"/>
            <a:chExt cx="3078912" cy="1963712"/>
          </a:xfrm>
        </p:grpSpPr>
        <p:sp>
          <p:nvSpPr>
            <p:cNvPr id="7" name="Freeform 7"/>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4"/>
              <a:stretch>
                <a:fillRect r="-1" b="-1"/>
              </a:stretch>
            </a:blipFill>
          </p:spPr>
          <p:txBody>
            <a:bodyPr/>
            <a:lstStyle/>
            <a:p>
              <a:endParaRPr lang="en-150"/>
            </a:p>
          </p:txBody>
        </p:sp>
      </p:grpSp>
      <p:pic>
        <p:nvPicPr>
          <p:cNvPr id="43" name="Picture 42">
            <a:extLst>
              <a:ext uri="{FF2B5EF4-FFF2-40B4-BE49-F238E27FC236}">
                <a16:creationId xmlns:a16="http://schemas.microsoft.com/office/drawing/2014/main" id="{90000BAB-459F-5090-27E4-68F427A97258}"/>
              </a:ext>
            </a:extLst>
          </p:cNvPr>
          <p:cNvPicPr>
            <a:picLocks noChangeAspect="1"/>
          </p:cNvPicPr>
          <p:nvPr/>
        </p:nvPicPr>
        <p:blipFill>
          <a:blip r:embed="rId5"/>
          <a:stretch>
            <a:fillRect/>
          </a:stretch>
        </p:blipFill>
        <p:spPr>
          <a:xfrm>
            <a:off x="796719" y="476217"/>
            <a:ext cx="14976681" cy="844838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7597778" y="2092328"/>
            <a:ext cx="120653" cy="15316200"/>
            <a:chOff x="0" y="0"/>
            <a:chExt cx="160871" cy="20421600"/>
          </a:xfrm>
        </p:grpSpPr>
        <p:sp>
          <p:nvSpPr>
            <p:cNvPr id="3" name="Freeform 3"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txBody>
            <a:bodyPr/>
            <a:lstStyle/>
            <a:p>
              <a:endParaRPr lang="en-150"/>
            </a:p>
          </p:txBody>
        </p:sp>
      </p:grpSp>
      <p:grpSp>
        <p:nvGrpSpPr>
          <p:cNvPr id="4" name="Group 4"/>
          <p:cNvGrpSpPr/>
          <p:nvPr/>
        </p:nvGrpSpPr>
        <p:grpSpPr>
          <a:xfrm rot="5400000">
            <a:off x="7597778" y="2092328"/>
            <a:ext cx="120653" cy="15316200"/>
            <a:chOff x="0" y="0"/>
            <a:chExt cx="160871" cy="20421600"/>
          </a:xfrm>
        </p:grpSpPr>
        <p:sp>
          <p:nvSpPr>
            <p:cNvPr id="5" name="Freeform 5"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3"/>
              <a:stretch>
                <a:fillRect l="-10746179" t="-27381" r="-7199463" b="-3794"/>
              </a:stretch>
            </a:blipFill>
          </p:spPr>
          <p:txBody>
            <a:bodyPr/>
            <a:lstStyle/>
            <a:p>
              <a:endParaRPr lang="en-150"/>
            </a:p>
          </p:txBody>
        </p:sp>
      </p:grpSp>
      <p:grpSp>
        <p:nvGrpSpPr>
          <p:cNvPr id="6" name="Group 6"/>
          <p:cNvGrpSpPr/>
          <p:nvPr/>
        </p:nvGrpSpPr>
        <p:grpSpPr>
          <a:xfrm>
            <a:off x="15544800" y="8496300"/>
            <a:ext cx="2309184" cy="1472784"/>
            <a:chOff x="0" y="0"/>
            <a:chExt cx="3078912" cy="1963712"/>
          </a:xfrm>
        </p:grpSpPr>
        <p:sp>
          <p:nvSpPr>
            <p:cNvPr id="7" name="Freeform 7"/>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4"/>
              <a:stretch>
                <a:fillRect r="-1" b="-1"/>
              </a:stretch>
            </a:blipFill>
          </p:spPr>
          <p:txBody>
            <a:bodyPr/>
            <a:lstStyle/>
            <a:p>
              <a:endParaRPr lang="en-150"/>
            </a:p>
          </p:txBody>
        </p:sp>
      </p:grpSp>
      <p:sp>
        <p:nvSpPr>
          <p:cNvPr id="8" name="Freeform 8"/>
          <p:cNvSpPr/>
          <p:nvPr/>
        </p:nvSpPr>
        <p:spPr>
          <a:xfrm>
            <a:off x="702931" y="751786"/>
            <a:ext cx="16265607" cy="8783428"/>
          </a:xfrm>
          <a:custGeom>
            <a:avLst/>
            <a:gdLst/>
            <a:ahLst/>
            <a:cxnLst/>
            <a:rect l="l" t="t" r="r" b="b"/>
            <a:pathLst>
              <a:path w="16265607" h="8783428">
                <a:moveTo>
                  <a:pt x="0" y="0"/>
                </a:moveTo>
                <a:lnTo>
                  <a:pt x="16265607" y="0"/>
                </a:lnTo>
                <a:lnTo>
                  <a:pt x="16265607" y="8783428"/>
                </a:lnTo>
                <a:lnTo>
                  <a:pt x="0" y="8783428"/>
                </a:lnTo>
                <a:lnTo>
                  <a:pt x="0" y="0"/>
                </a:lnTo>
                <a:close/>
              </a:path>
            </a:pathLst>
          </a:custGeom>
          <a:blipFill>
            <a:blip r:embed="rId5"/>
            <a:stretch>
              <a:fillRect/>
            </a:stretch>
          </a:blipFill>
        </p:spPr>
        <p:txBody>
          <a:bodyPr/>
          <a:lstStyle/>
          <a:p>
            <a:endParaRPr lang="en-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41F576-BF9E-9FC7-4EC8-B70A7E55AE08}"/>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4" name="Picture 43">
            <a:extLst>
              <a:ext uri="{FF2B5EF4-FFF2-40B4-BE49-F238E27FC236}">
                <a16:creationId xmlns:a16="http://schemas.microsoft.com/office/drawing/2014/main" id="{77C2C6C8-F525-F668-0211-A8779D804108}"/>
              </a:ext>
            </a:extLst>
          </p:cNvPr>
          <p:cNvPicPr>
            <a:picLocks noChangeAspect="1"/>
          </p:cNvPicPr>
          <p:nvPr/>
        </p:nvPicPr>
        <p:blipFill>
          <a:blip r:embed="rId3"/>
          <a:srcRect r="6614" b="-2"/>
          <a:stretch>
            <a:fillRect/>
          </a:stretch>
        </p:blipFill>
        <p:spPr>
          <a:xfrm>
            <a:off x="990605" y="796210"/>
            <a:ext cx="14325600" cy="8056652"/>
          </a:xfrm>
          <a:prstGeom prst="rect">
            <a:avLst/>
          </a:prstGeom>
        </p:spPr>
      </p:pic>
      <p:grpSp>
        <p:nvGrpSpPr>
          <p:cNvPr id="43" name="Group 4">
            <a:extLst>
              <a:ext uri="{FF2B5EF4-FFF2-40B4-BE49-F238E27FC236}">
                <a16:creationId xmlns:a16="http://schemas.microsoft.com/office/drawing/2014/main" id="{120EA82B-441A-D6A6-EF30-68DEADB2EE65}"/>
              </a:ext>
            </a:extLst>
          </p:cNvPr>
          <p:cNvGrpSpPr/>
          <p:nvPr/>
        </p:nvGrpSpPr>
        <p:grpSpPr>
          <a:xfrm rot="5400000">
            <a:off x="7597778" y="2092328"/>
            <a:ext cx="120653" cy="15316200"/>
            <a:chOff x="0" y="0"/>
            <a:chExt cx="160871" cy="20421600"/>
          </a:xfrm>
        </p:grpSpPr>
        <p:sp>
          <p:nvSpPr>
            <p:cNvPr id="45" name="Freeform 5" descr="_Plaid-Digital_FINAL-NEW.png">
              <a:extLst>
                <a:ext uri="{FF2B5EF4-FFF2-40B4-BE49-F238E27FC236}">
                  <a16:creationId xmlns:a16="http://schemas.microsoft.com/office/drawing/2014/main" id="{AB259D0A-8553-CD73-9570-4A7AD2C1FE52}"/>
                </a:ext>
              </a:extLst>
            </p:cNvPr>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4"/>
              <a:stretch>
                <a:fillRect l="-10746179" t="-27381" r="-7199463" b="-3794"/>
              </a:stretch>
            </a:blipFill>
          </p:spPr>
          <p:txBody>
            <a:bodyPr/>
            <a:lstStyle/>
            <a:p>
              <a:endParaRPr lang="en-150"/>
            </a:p>
          </p:txBody>
        </p:sp>
      </p:grpSp>
      <p:grpSp>
        <p:nvGrpSpPr>
          <p:cNvPr id="46" name="Group 6">
            <a:extLst>
              <a:ext uri="{FF2B5EF4-FFF2-40B4-BE49-F238E27FC236}">
                <a16:creationId xmlns:a16="http://schemas.microsoft.com/office/drawing/2014/main" id="{DDBC9B9B-5B35-0D7C-B73B-E5F4F8305351}"/>
              </a:ext>
            </a:extLst>
          </p:cNvPr>
          <p:cNvGrpSpPr/>
          <p:nvPr/>
        </p:nvGrpSpPr>
        <p:grpSpPr>
          <a:xfrm>
            <a:off x="15544800" y="8496300"/>
            <a:ext cx="2309184" cy="1472784"/>
            <a:chOff x="0" y="0"/>
            <a:chExt cx="3078912" cy="1963712"/>
          </a:xfrm>
        </p:grpSpPr>
        <p:sp>
          <p:nvSpPr>
            <p:cNvPr id="48" name="Freeform 7">
              <a:extLst>
                <a:ext uri="{FF2B5EF4-FFF2-40B4-BE49-F238E27FC236}">
                  <a16:creationId xmlns:a16="http://schemas.microsoft.com/office/drawing/2014/main" id="{75BFE6EC-2A7C-BBBE-F9A2-148A2CEC9320}"/>
                </a:ext>
              </a:extLst>
            </p:cNvPr>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5"/>
              <a:stretch>
                <a:fillRect r="-1" b="-1"/>
              </a:stretch>
            </a:blipFill>
          </p:spPr>
          <p:txBody>
            <a:bodyPr/>
            <a:lstStyle/>
            <a:p>
              <a:endParaRPr lang="en-150"/>
            </a:p>
          </p:txBody>
        </p:sp>
      </p:grpSp>
    </p:spTree>
    <p:extLst>
      <p:ext uri="{BB962C8B-B14F-4D97-AF65-F5344CB8AC3E}">
        <p14:creationId xmlns:p14="http://schemas.microsoft.com/office/powerpoint/2010/main" val="4276498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150"/>
          </a:p>
        </p:txBody>
      </p:sp>
      <p:grpSp>
        <p:nvGrpSpPr>
          <p:cNvPr id="3" name="Group 3"/>
          <p:cNvGrpSpPr/>
          <p:nvPr/>
        </p:nvGrpSpPr>
        <p:grpSpPr>
          <a:xfrm rot="5400000">
            <a:off x="7597778" y="2092328"/>
            <a:ext cx="120653" cy="15316200"/>
            <a:chOff x="0" y="0"/>
            <a:chExt cx="160871" cy="20421600"/>
          </a:xfrm>
        </p:grpSpPr>
        <p:sp>
          <p:nvSpPr>
            <p:cNvPr id="4" name="Freeform 4"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4"/>
              <a:stretch>
                <a:fillRect l="-10746179" t="-27381" r="-7199463" b="-3794"/>
              </a:stretch>
            </a:blipFill>
          </p:spPr>
          <p:txBody>
            <a:bodyPr/>
            <a:lstStyle/>
            <a:p>
              <a:endParaRPr lang="en-150"/>
            </a:p>
          </p:txBody>
        </p:sp>
      </p:grpSp>
      <p:grpSp>
        <p:nvGrpSpPr>
          <p:cNvPr id="5" name="Group 5"/>
          <p:cNvGrpSpPr/>
          <p:nvPr/>
        </p:nvGrpSpPr>
        <p:grpSpPr>
          <a:xfrm rot="5400000">
            <a:off x="7597778" y="2092328"/>
            <a:ext cx="120653" cy="15316200"/>
            <a:chOff x="0" y="0"/>
            <a:chExt cx="160871" cy="20421600"/>
          </a:xfrm>
        </p:grpSpPr>
        <p:sp>
          <p:nvSpPr>
            <p:cNvPr id="6" name="Freeform 6" descr="_Plaid-Digital_FINAL-NEW.png"/>
            <p:cNvSpPr/>
            <p:nvPr/>
          </p:nvSpPr>
          <p:spPr>
            <a:xfrm>
              <a:off x="0" y="0"/>
              <a:ext cx="160909" cy="20421600"/>
            </a:xfrm>
            <a:custGeom>
              <a:avLst/>
              <a:gdLst/>
              <a:ahLst/>
              <a:cxnLst/>
              <a:rect l="l" t="t" r="r" b="b"/>
              <a:pathLst>
                <a:path w="160909" h="20421600">
                  <a:moveTo>
                    <a:pt x="0" y="0"/>
                  </a:moveTo>
                  <a:lnTo>
                    <a:pt x="160909" y="0"/>
                  </a:lnTo>
                  <a:lnTo>
                    <a:pt x="160909" y="20421600"/>
                  </a:lnTo>
                  <a:lnTo>
                    <a:pt x="0" y="20421600"/>
                  </a:lnTo>
                  <a:lnTo>
                    <a:pt x="0" y="0"/>
                  </a:lnTo>
                  <a:close/>
                </a:path>
              </a:pathLst>
            </a:custGeom>
            <a:blipFill>
              <a:blip r:embed="rId4"/>
              <a:stretch>
                <a:fillRect l="-10746179" t="-27381" r="-7199463" b="-3794"/>
              </a:stretch>
            </a:blipFill>
          </p:spPr>
          <p:txBody>
            <a:bodyPr/>
            <a:lstStyle/>
            <a:p>
              <a:endParaRPr lang="en-150"/>
            </a:p>
          </p:txBody>
        </p:sp>
      </p:grpSp>
      <p:grpSp>
        <p:nvGrpSpPr>
          <p:cNvPr id="7" name="Group 7"/>
          <p:cNvGrpSpPr/>
          <p:nvPr/>
        </p:nvGrpSpPr>
        <p:grpSpPr>
          <a:xfrm>
            <a:off x="15544800" y="8496300"/>
            <a:ext cx="2309184" cy="1472784"/>
            <a:chOff x="0" y="0"/>
            <a:chExt cx="3078912" cy="1963712"/>
          </a:xfrm>
        </p:grpSpPr>
        <p:sp>
          <p:nvSpPr>
            <p:cNvPr id="8" name="Freeform 8"/>
            <p:cNvSpPr/>
            <p:nvPr/>
          </p:nvSpPr>
          <p:spPr>
            <a:xfrm>
              <a:off x="0" y="0"/>
              <a:ext cx="3078861" cy="1963674"/>
            </a:xfrm>
            <a:custGeom>
              <a:avLst/>
              <a:gdLst/>
              <a:ahLst/>
              <a:cxnLst/>
              <a:rect l="l" t="t" r="r" b="b"/>
              <a:pathLst>
                <a:path w="3078861" h="1963674">
                  <a:moveTo>
                    <a:pt x="0" y="0"/>
                  </a:moveTo>
                  <a:lnTo>
                    <a:pt x="3078861" y="0"/>
                  </a:lnTo>
                  <a:lnTo>
                    <a:pt x="3078861" y="1963674"/>
                  </a:lnTo>
                  <a:lnTo>
                    <a:pt x="0" y="1963674"/>
                  </a:lnTo>
                  <a:lnTo>
                    <a:pt x="0" y="0"/>
                  </a:lnTo>
                  <a:close/>
                </a:path>
              </a:pathLst>
            </a:custGeom>
            <a:blipFill>
              <a:blip r:embed="rId5"/>
              <a:stretch>
                <a:fillRect r="-1" b="-1"/>
              </a:stretch>
            </a:blipFill>
          </p:spPr>
          <p:txBody>
            <a:bodyPr/>
            <a:lstStyle/>
            <a:p>
              <a:endParaRPr lang="en-150"/>
            </a:p>
          </p:txBody>
        </p:sp>
      </p:grpSp>
      <p:grpSp>
        <p:nvGrpSpPr>
          <p:cNvPr id="9" name="Group 9"/>
          <p:cNvGrpSpPr/>
          <p:nvPr/>
        </p:nvGrpSpPr>
        <p:grpSpPr>
          <a:xfrm>
            <a:off x="22452635" y="13105628"/>
            <a:ext cx="559765" cy="554003"/>
            <a:chOff x="0" y="0"/>
            <a:chExt cx="746354" cy="738670"/>
          </a:xfrm>
        </p:grpSpPr>
        <p:sp>
          <p:nvSpPr>
            <p:cNvPr id="10" name="Freeform 10"/>
            <p:cNvSpPr/>
            <p:nvPr/>
          </p:nvSpPr>
          <p:spPr>
            <a:xfrm>
              <a:off x="0" y="0"/>
              <a:ext cx="746355" cy="738664"/>
            </a:xfrm>
            <a:custGeom>
              <a:avLst/>
              <a:gdLst/>
              <a:ahLst/>
              <a:cxnLst/>
              <a:rect l="l" t="t" r="r" b="b"/>
              <a:pathLst>
                <a:path w="746355" h="738664">
                  <a:moveTo>
                    <a:pt x="0" y="0"/>
                  </a:moveTo>
                  <a:lnTo>
                    <a:pt x="746355" y="0"/>
                  </a:lnTo>
                  <a:lnTo>
                    <a:pt x="746355" y="738664"/>
                  </a:lnTo>
                  <a:lnTo>
                    <a:pt x="0" y="738664"/>
                  </a:lnTo>
                  <a:close/>
                </a:path>
              </a:pathLst>
            </a:custGeom>
            <a:blipFill>
              <a:blip r:embed="rId6">
                <a:alphaModFix amt="0"/>
              </a:blip>
              <a:stretch>
                <a:fillRect l="-76982" r="-76982"/>
              </a:stretch>
            </a:blipFill>
          </p:spPr>
          <p:txBody>
            <a:bodyPr/>
            <a:lstStyle/>
            <a:p>
              <a:endParaRPr lang="en-150"/>
            </a:p>
          </p:txBody>
        </p:sp>
        <p:sp>
          <p:nvSpPr>
            <p:cNvPr id="11" name="TextBox 11"/>
            <p:cNvSpPr txBox="1"/>
            <p:nvPr/>
          </p:nvSpPr>
          <p:spPr>
            <a:xfrm>
              <a:off x="0" y="9525"/>
              <a:ext cx="746354" cy="729145"/>
            </a:xfrm>
            <a:prstGeom prst="rect">
              <a:avLst/>
            </a:prstGeom>
          </p:spPr>
          <p:txBody>
            <a:bodyPr lIns="0" tIns="0" rIns="0" bIns="0" rtlCol="0" anchor="ctr"/>
            <a:lstStyle/>
            <a:p>
              <a:pPr algn="r">
                <a:lnSpc>
                  <a:spcPts val="2879"/>
                </a:lnSpc>
              </a:pPr>
              <a:r>
                <a:rPr lang="en-US" sz="2400">
                  <a:solidFill>
                    <a:srgbClr val="888888"/>
                  </a:solidFill>
                  <a:latin typeface="Open Sans Light"/>
                  <a:ea typeface="Open Sans Light"/>
                  <a:cs typeface="Open Sans Light"/>
                  <a:sym typeface="Open Sans Light"/>
                </a:rPr>
                <a:t>‹#›</a:t>
              </a:r>
            </a:p>
          </p:txBody>
        </p:sp>
      </p:grpSp>
      <p:grpSp>
        <p:nvGrpSpPr>
          <p:cNvPr id="12" name="Group 12"/>
          <p:cNvGrpSpPr/>
          <p:nvPr/>
        </p:nvGrpSpPr>
        <p:grpSpPr>
          <a:xfrm>
            <a:off x="22757435" y="13410428"/>
            <a:ext cx="559765" cy="554003"/>
            <a:chOff x="0" y="0"/>
            <a:chExt cx="746354" cy="738670"/>
          </a:xfrm>
        </p:grpSpPr>
        <p:sp>
          <p:nvSpPr>
            <p:cNvPr id="13" name="Freeform 13"/>
            <p:cNvSpPr/>
            <p:nvPr/>
          </p:nvSpPr>
          <p:spPr>
            <a:xfrm>
              <a:off x="0" y="0"/>
              <a:ext cx="746355" cy="738664"/>
            </a:xfrm>
            <a:custGeom>
              <a:avLst/>
              <a:gdLst/>
              <a:ahLst/>
              <a:cxnLst/>
              <a:rect l="l" t="t" r="r" b="b"/>
              <a:pathLst>
                <a:path w="746355" h="738664">
                  <a:moveTo>
                    <a:pt x="0" y="0"/>
                  </a:moveTo>
                  <a:lnTo>
                    <a:pt x="746355" y="0"/>
                  </a:lnTo>
                  <a:lnTo>
                    <a:pt x="746355" y="738664"/>
                  </a:lnTo>
                  <a:lnTo>
                    <a:pt x="0" y="738664"/>
                  </a:lnTo>
                  <a:close/>
                </a:path>
              </a:pathLst>
            </a:custGeom>
            <a:blipFill>
              <a:blip r:embed="rId6">
                <a:alphaModFix amt="0"/>
              </a:blip>
              <a:stretch>
                <a:fillRect l="-76982" r="-76982"/>
              </a:stretch>
            </a:blipFill>
          </p:spPr>
          <p:txBody>
            <a:bodyPr/>
            <a:lstStyle/>
            <a:p>
              <a:endParaRPr lang="en-150"/>
            </a:p>
          </p:txBody>
        </p:sp>
        <p:sp>
          <p:nvSpPr>
            <p:cNvPr id="14" name="TextBox 14"/>
            <p:cNvSpPr txBox="1"/>
            <p:nvPr/>
          </p:nvSpPr>
          <p:spPr>
            <a:xfrm>
              <a:off x="0" y="9525"/>
              <a:ext cx="746354" cy="729145"/>
            </a:xfrm>
            <a:prstGeom prst="rect">
              <a:avLst/>
            </a:prstGeom>
          </p:spPr>
          <p:txBody>
            <a:bodyPr lIns="0" tIns="0" rIns="0" bIns="0" rtlCol="0" anchor="ctr"/>
            <a:lstStyle/>
            <a:p>
              <a:pPr algn="r">
                <a:lnSpc>
                  <a:spcPts val="2879"/>
                </a:lnSpc>
              </a:pPr>
              <a:r>
                <a:rPr lang="en-US" sz="2400">
                  <a:solidFill>
                    <a:srgbClr val="888888"/>
                  </a:solidFill>
                  <a:latin typeface="Open Sans Light"/>
                  <a:ea typeface="Open Sans Light"/>
                  <a:cs typeface="Open Sans Light"/>
                  <a:sym typeface="Open Sans Light"/>
                </a:rPr>
                <a:t>‹#›</a:t>
              </a:r>
            </a:p>
          </p:txBody>
        </p:sp>
      </p:grpSp>
      <p:grpSp>
        <p:nvGrpSpPr>
          <p:cNvPr id="15" name="Group 15"/>
          <p:cNvGrpSpPr/>
          <p:nvPr/>
        </p:nvGrpSpPr>
        <p:grpSpPr>
          <a:xfrm>
            <a:off x="23062235" y="13715228"/>
            <a:ext cx="559765" cy="554003"/>
            <a:chOff x="0" y="0"/>
            <a:chExt cx="746354" cy="738670"/>
          </a:xfrm>
        </p:grpSpPr>
        <p:sp>
          <p:nvSpPr>
            <p:cNvPr id="16" name="Freeform 16"/>
            <p:cNvSpPr/>
            <p:nvPr/>
          </p:nvSpPr>
          <p:spPr>
            <a:xfrm>
              <a:off x="0" y="0"/>
              <a:ext cx="746355" cy="738664"/>
            </a:xfrm>
            <a:custGeom>
              <a:avLst/>
              <a:gdLst/>
              <a:ahLst/>
              <a:cxnLst/>
              <a:rect l="l" t="t" r="r" b="b"/>
              <a:pathLst>
                <a:path w="746355" h="738664">
                  <a:moveTo>
                    <a:pt x="0" y="0"/>
                  </a:moveTo>
                  <a:lnTo>
                    <a:pt x="746355" y="0"/>
                  </a:lnTo>
                  <a:lnTo>
                    <a:pt x="746355" y="738664"/>
                  </a:lnTo>
                  <a:lnTo>
                    <a:pt x="0" y="738664"/>
                  </a:lnTo>
                  <a:close/>
                </a:path>
              </a:pathLst>
            </a:custGeom>
            <a:blipFill>
              <a:blip r:embed="rId6">
                <a:alphaModFix amt="0"/>
              </a:blip>
              <a:stretch>
                <a:fillRect l="-76982" r="-76982"/>
              </a:stretch>
            </a:blipFill>
          </p:spPr>
          <p:txBody>
            <a:bodyPr/>
            <a:lstStyle/>
            <a:p>
              <a:endParaRPr lang="en-150"/>
            </a:p>
          </p:txBody>
        </p:sp>
        <p:sp>
          <p:nvSpPr>
            <p:cNvPr id="17" name="TextBox 17"/>
            <p:cNvSpPr txBox="1"/>
            <p:nvPr/>
          </p:nvSpPr>
          <p:spPr>
            <a:xfrm>
              <a:off x="0" y="9525"/>
              <a:ext cx="746354" cy="729145"/>
            </a:xfrm>
            <a:prstGeom prst="rect">
              <a:avLst/>
            </a:prstGeom>
          </p:spPr>
          <p:txBody>
            <a:bodyPr lIns="0" tIns="0" rIns="0" bIns="0" rtlCol="0" anchor="ctr"/>
            <a:lstStyle/>
            <a:p>
              <a:pPr algn="r">
                <a:lnSpc>
                  <a:spcPts val="2879"/>
                </a:lnSpc>
              </a:pPr>
              <a:r>
                <a:rPr lang="en-US" sz="2400">
                  <a:solidFill>
                    <a:srgbClr val="888888"/>
                  </a:solidFill>
                  <a:latin typeface="Open Sans Light"/>
                  <a:ea typeface="Open Sans Light"/>
                  <a:cs typeface="Open Sans Light"/>
                  <a:sym typeface="Open Sans Light"/>
                </a:rPr>
                <a:t>‹#›</a:t>
              </a:r>
            </a:p>
          </p:txBody>
        </p:sp>
      </p:grpSp>
      <p:sp>
        <p:nvSpPr>
          <p:cNvPr id="18" name="TextBox 18"/>
          <p:cNvSpPr txBox="1"/>
          <p:nvPr/>
        </p:nvSpPr>
        <p:spPr>
          <a:xfrm>
            <a:off x="17160221" y="217808"/>
            <a:ext cx="830932" cy="460391"/>
          </a:xfrm>
          <a:prstGeom prst="rect">
            <a:avLst/>
          </a:prstGeom>
        </p:spPr>
        <p:txBody>
          <a:bodyPr lIns="0" tIns="0" rIns="0" bIns="0" rtlCol="0" anchor="t">
            <a:spAutoFit/>
          </a:bodyPr>
          <a:lstStyle/>
          <a:p>
            <a:pPr algn="r">
              <a:lnSpc>
                <a:spcPts val="2640"/>
              </a:lnSpc>
            </a:pPr>
            <a:r>
              <a:rPr lang="en-US" sz="2200">
                <a:solidFill>
                  <a:srgbClr val="7F7F7F"/>
                </a:solidFill>
                <a:latin typeface="Helvetica"/>
                <a:ea typeface="Helvetica"/>
                <a:cs typeface="Helvetica"/>
                <a:sym typeface="Helvetica"/>
              </a:rPr>
              <a:t>‹#›</a:t>
            </a:r>
          </a:p>
        </p:txBody>
      </p:sp>
      <p:grpSp>
        <p:nvGrpSpPr>
          <p:cNvPr id="19" name="Group 19"/>
          <p:cNvGrpSpPr/>
          <p:nvPr/>
        </p:nvGrpSpPr>
        <p:grpSpPr>
          <a:xfrm>
            <a:off x="0" y="-38100"/>
            <a:ext cx="18288000" cy="10287000"/>
            <a:chOff x="0" y="0"/>
            <a:chExt cx="24384000" cy="13716000"/>
          </a:xfrm>
        </p:grpSpPr>
        <p:sp>
          <p:nvSpPr>
            <p:cNvPr id="20" name="Freeform 20" descr="cmu-desktop-wallpaper-r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r="-17"/>
              </a:stretch>
            </a:blipFill>
          </p:spPr>
          <p:txBody>
            <a:bodyPr/>
            <a:lstStyle/>
            <a:p>
              <a:endParaRPr lang="en-150"/>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1145</TotalTime>
  <Words>1037</Words>
  <Application>Microsoft Office PowerPoint</Application>
  <PresentationFormat>Custom</PresentationFormat>
  <Paragraphs>76</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Montserrat</vt:lpstr>
      <vt:lpstr>Open Sans Light</vt:lpstr>
      <vt:lpstr>League Spartan</vt:lpstr>
      <vt:lpstr>Helvetica</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ACV_PRESENTATION_V2</dc:title>
  <dc:creator>Damilola Adetoro</dc:creator>
  <cp:lastModifiedBy>Samuel Adeniji</cp:lastModifiedBy>
  <cp:revision>5</cp:revision>
  <dcterms:created xsi:type="dcterms:W3CDTF">2006-08-16T00:00:00Z</dcterms:created>
  <dcterms:modified xsi:type="dcterms:W3CDTF">2026-04-26T15:17:16Z</dcterms:modified>
  <dc:identifier>DAHHla8CZdM</dc:identifier>
</cp:coreProperties>
</file>